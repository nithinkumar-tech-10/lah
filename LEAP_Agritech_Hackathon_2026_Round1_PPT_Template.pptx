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0166577b-9d4e-d59b-e313-219e6d2cb20d}">
          <p14:sldIdLst>
            <p14:sldId id="256"/>
          </p14:sldIdLst>
        </p14:section>
        <p14:section name="Presentation" id="{ed2c70da-5309-e942-d10f-46a3651745d1}">
          <p14:sldIdLst>
            <p14:sldId id="257"/>
            <p14:sldId id="258"/>
            <p14:sldId id="259"/>
            <p14:sldId id="260"/>
            <p14:sldId id="261"/>
          </p14:sldIdLst>
        </p14:section>
        <p14:section name="Closing" id="{8b827af6-095f-e8ff-87ca-6997fef17833}">
          <p14:sldIdLst>
            <p14:sldId id="26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team details table. Do not change the logos, the hackathon name or the layout. Keep the presentation to 7 slides (including this one) with a maximum of 3 content-heavy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in simple words. Use real data with a source. Replace the guidance text in each box with your own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2-3 existing solutions you studied. Be honest about their limitations. The research gap leads into your solution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1 is the idea round. Explain your idea clearly and in simple words. A working prototype is not required now, you will build it during the 24 hours of the hackathon.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your solution will work technically: add an architecture diagram, flowchart or prototype sketch, name the exact tools you will use, and explain the order in which you will build the prototype during the 24 hours of the hackathon.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numbers wherever possible, for example percentage savings or number of farmers who can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your team contact details. The helpdesk contacts are the faculty and student coordinators of the hackathon.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AP Content">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c21caaec-5dfa-5601-ad61-38301e23ceb7/scratchpad/assets/gmit_logo.png"/>
          <p:cNvPicPr>
            <a:picLocks noChangeAspect="1"/>
          </p:cNvPicPr>
          <p:nvPr/>
        </p:nvPicPr>
        <p:blipFill>
          <a:blip r:embed="rId2"/>
          <a:stretch>
            <a:fillRect/>
          </a:stretch>
        </p:blipFill>
        <p:spPr>
          <a:xfrm>
            <a:off x="548640" y="274320"/>
            <a:ext cx="1160502" cy="868680"/>
          </a:xfrm>
          <a:prstGeom prst="rect">
            <a:avLst/>
          </a:prstGeom>
        </p:spPr>
      </p:pic>
      <p:pic>
        <p:nvPicPr>
          <p:cNvPr id="3" name="Image 1" descr="/tmp/claude-0/-home-claude/c21caaec-5dfa-5601-ad61-38301e23ceb7/scratchpad/assets/hack_logo.png"/>
          <p:cNvPicPr>
            <a:picLocks noChangeAspect="1"/>
          </p:cNvPicPr>
          <p:nvPr/>
        </p:nvPicPr>
        <p:blipFill>
          <a:blip r:embed="rId3"/>
          <a:stretch>
            <a:fillRect/>
          </a:stretch>
        </p:blipFill>
        <p:spPr>
          <a:xfrm>
            <a:off x="9994392" y="310896"/>
            <a:ext cx="1645920" cy="773084"/>
          </a:xfrm>
          <a:prstGeom prst="rect">
            <a:avLst/>
          </a:prstGeom>
        </p:spPr>
      </p:pic>
      <p:sp>
        <p:nvSpPr>
          <p:cNvPr id="4" name="Text 0"/>
          <p:cNvSpPr/>
          <p:nvPr>
            <p:ph type="title" idx="102" hasCustomPrompt="1"/>
          </p:nvPr>
        </p:nvSpPr>
        <p:spPr>
          <a:xfrm>
            <a:off x="2011680" y="320040"/>
            <a:ext cx="7955280" cy="822960"/>
          </a:xfrm>
          <a:prstGeom prst="rect">
            <a:avLst/>
          </a:prstGeom>
          <a:noFill/>
        </p:spPr>
        <p:txBody>
          <a:bodyPr wrap="square" rtlCol="0"/>
          <a:lstStyle>
            <a:lvl1pPr marL="0" indent="0" algn="ctr">
              <a:buNone/>
              <a:defRPr lang="en-US" sz="3600" b="1" dirty="0">
                <a:solidFill>
                  <a:schemeClr val="tx2"/>
                </a:solidFill>
              </a:defRPr>
            </a:lvl1pPr>
          </a:lstStyle>
          <a:p>
            <a:pPr marL="0" indent="0" algn="ctr">
              <a:buNone/>
            </a:pPr>
            <a:endParaRPr lang="en-US" sz="3600" dirty="0"/>
          </a:p>
        </p:txBody>
      </p:sp>
      <p:sp>
        <p:nvSpPr>
          <p:cNvPr id="5" name="Text 0"/>
          <p:cNvSpPr/>
          <p:nvPr/>
        </p:nvSpPr>
        <p:spPr>
          <a:xfrm>
            <a:off x="548640" y="6400800"/>
            <a:ext cx="8686800" cy="274320"/>
          </a:xfrm>
          <a:prstGeom prst="rect">
            <a:avLst/>
          </a:prstGeom>
          <a:noFill/>
        </p:spPr>
        <p:txBody>
          <a:bodyPr wrap="square" lIns="0" tIns="0" rIns="0" bIns="0" rtlCol="0" anchor="ctr"/>
          <a:lstStyle/>
          <a:p>
            <a:pPr marL="0" indent="0">
              <a:buNone/>
            </a:pPr>
            <a:r>
              <a:rPr lang="en-US" sz="1200" dirty="0">
                <a:solidFill>
                  <a:schemeClr val="accent5"/>
                </a:solidFill>
              </a:rPr>
              <a:t>LEAP Agritech Hackathon 2026  |  G. Madegowda Institute of Technology, Mandya</a:t>
            </a:r>
            <a:endParaRPr lang="en-US" sz="1200" dirty="0"/>
          </a:p>
        </p:txBody>
      </p:sp>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AP Title">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c21caaec-5dfa-5601-ad61-38301e23ceb7/scratchpad/assets/gmit_logo.png"/>
          <p:cNvPicPr>
            <a:picLocks noChangeAspect="1"/>
          </p:cNvPicPr>
          <p:nvPr/>
        </p:nvPicPr>
        <p:blipFill>
          <a:blip r:embed="rId2"/>
          <a:stretch>
            <a:fillRect/>
          </a:stretch>
        </p:blipFill>
        <p:spPr>
          <a:xfrm>
            <a:off x="548640" y="320040"/>
            <a:ext cx="1832372" cy="1371600"/>
          </a:xfrm>
          <a:prstGeom prst="rect">
            <a:avLst/>
          </a:prstGeom>
        </p:spPr>
      </p:pic>
      <p:pic>
        <p:nvPicPr>
          <p:cNvPr id="3" name="Image 1" descr="/tmp/claude-0/-home-claude/c21caaec-5dfa-5601-ad61-38301e23ceb7/scratchpad/assets/hack_logo.png"/>
          <p:cNvPicPr>
            <a:picLocks noChangeAspect="1"/>
          </p:cNvPicPr>
          <p:nvPr/>
        </p:nvPicPr>
        <p:blipFill>
          <a:blip r:embed="rId3"/>
          <a:stretch>
            <a:fillRect/>
          </a:stretch>
        </p:blipFill>
        <p:spPr>
          <a:xfrm>
            <a:off x="8720131" y="320040"/>
            <a:ext cx="2920181" cy="1371600"/>
          </a:xfrm>
          <a:prstGeom prst="rect">
            <a:avLst/>
          </a:prstGeom>
        </p:spPr>
      </p:pic>
      <p:sp>
        <p:nvSpPr>
          <p:cNvPr id="4" name="Text 0"/>
          <p:cNvSpPr/>
          <p:nvPr>
            <p:ph type="title" idx="102" hasCustomPrompt="1"/>
          </p:nvPr>
        </p:nvSpPr>
        <p:spPr>
          <a:xfrm>
            <a:off x="548640" y="1920240"/>
            <a:ext cx="11091672" cy="731520"/>
          </a:xfrm>
          <a:prstGeom prst="rect">
            <a:avLst/>
          </a:prstGeom>
          <a:noFill/>
        </p:spPr>
        <p:txBody>
          <a:bodyPr wrap="square" rtlCol="0"/>
          <a:lstStyle>
            <a:lvl1pPr marL="0" indent="0" algn="ctr">
              <a:buNone/>
              <a:defRPr lang="en-US" sz="4000" b="1" dirty="0">
                <a:solidFill>
                  <a:schemeClr val="tx2"/>
                </a:solidFill>
              </a:defRPr>
            </a:lvl1pPr>
          </a:lstStyle>
          <a:p>
            <a:pPr marL="0" indent="0" algn="ctr">
              <a:buNone/>
            </a:pPr>
            <a:endParaRPr lang="en-US" sz="4000" dirty="0"/>
          </a:p>
        </p:txBody>
      </p:sp>
      <p:sp>
        <p:nvSpPr>
          <p:cNvPr id="5" name="Text 0"/>
          <p:cNvSpPr/>
          <p:nvPr/>
        </p:nvSpPr>
        <p:spPr>
          <a:xfrm>
            <a:off x="548640" y="6400800"/>
            <a:ext cx="8686800" cy="274320"/>
          </a:xfrm>
          <a:prstGeom prst="rect">
            <a:avLst/>
          </a:prstGeom>
          <a:noFill/>
        </p:spPr>
        <p:txBody>
          <a:bodyPr wrap="square" lIns="0" tIns="0" rIns="0" bIns="0" rtlCol="0" anchor="ctr"/>
          <a:lstStyle/>
          <a:p>
            <a:pPr marL="0" indent="0">
              <a:buNone/>
            </a:pPr>
            <a:r>
              <a:rPr lang="en-US" sz="1200" dirty="0">
                <a:solidFill>
                  <a:schemeClr val="accent5"/>
                </a:solidFill>
              </a:rPr>
              <a:t>LEAP Agritech Hackathon 2026  |  G. Madegowda Institute of Technology, Mandya</a:t>
            </a:r>
            <a:endParaRPr lang="en-US" sz="1200" dirty="0"/>
          </a:p>
        </p:txBody>
      </p:sp>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P Closing">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c21caaec-5dfa-5601-ad61-38301e23ceb7/scratchpad/assets/gmit_logo.png"/>
          <p:cNvPicPr>
            <a:picLocks noChangeAspect="1"/>
          </p:cNvPicPr>
          <p:nvPr/>
        </p:nvPicPr>
        <p:blipFill>
          <a:blip r:embed="rId2"/>
          <a:stretch>
            <a:fillRect/>
          </a:stretch>
        </p:blipFill>
        <p:spPr>
          <a:xfrm>
            <a:off x="548640" y="320040"/>
            <a:ext cx="1832372" cy="1371600"/>
          </a:xfrm>
          <a:prstGeom prst="rect">
            <a:avLst/>
          </a:prstGeom>
        </p:spPr>
      </p:pic>
      <p:pic>
        <p:nvPicPr>
          <p:cNvPr id="3" name="Image 1" descr="/tmp/claude-0/-home-claude/c21caaec-5dfa-5601-ad61-38301e23ceb7/scratchpad/assets/hack_logo.png"/>
          <p:cNvPicPr>
            <a:picLocks noChangeAspect="1"/>
          </p:cNvPicPr>
          <p:nvPr/>
        </p:nvPicPr>
        <p:blipFill>
          <a:blip r:embed="rId3"/>
          <a:stretch>
            <a:fillRect/>
          </a:stretch>
        </p:blipFill>
        <p:spPr>
          <a:xfrm>
            <a:off x="8720131" y="320040"/>
            <a:ext cx="2920181" cy="1371600"/>
          </a:xfrm>
          <a:prstGeom prst="rect">
            <a:avLst/>
          </a:prstGeom>
        </p:spPr>
      </p:pic>
      <p:sp>
        <p:nvSpPr>
          <p:cNvPr id="4" name="Text 0"/>
          <p:cNvSpPr/>
          <p:nvPr>
            <p:ph type="title" idx="102" hasCustomPrompt="1"/>
          </p:nvPr>
        </p:nvSpPr>
        <p:spPr>
          <a:xfrm>
            <a:off x="548640" y="1828800"/>
            <a:ext cx="11091672" cy="914400"/>
          </a:xfrm>
          <a:prstGeom prst="rect">
            <a:avLst/>
          </a:prstGeom>
          <a:noFill/>
        </p:spPr>
        <p:txBody>
          <a:bodyPr wrap="square" rtlCol="0"/>
          <a:lstStyle>
            <a:lvl1pPr marL="0" indent="0" algn="ctr">
              <a:buNone/>
              <a:defRPr lang="en-US" sz="5400" b="1" dirty="0">
                <a:solidFill>
                  <a:schemeClr val="tx2"/>
                </a:solidFill>
              </a:defRPr>
            </a:lvl1pPr>
          </a:lstStyle>
          <a:p>
            <a:pPr marL="0" indent="0" algn="ctr">
              <a:buNone/>
            </a:pPr>
            <a:endParaRPr lang="en-US" sz="5400" dirty="0"/>
          </a:p>
        </p:txBody>
      </p:sp>
      <p:sp>
        <p:nvSpPr>
          <p:cNvPr id="5" name="Text 0"/>
          <p:cNvSpPr/>
          <p:nvPr/>
        </p:nvSpPr>
        <p:spPr>
          <a:xfrm>
            <a:off x="548640" y="6400800"/>
            <a:ext cx="8686800" cy="274320"/>
          </a:xfrm>
          <a:prstGeom prst="rect">
            <a:avLst/>
          </a:prstGeom>
          <a:noFill/>
        </p:spPr>
        <p:txBody>
          <a:bodyPr wrap="square" lIns="0" tIns="0" rIns="0" bIns="0" rtlCol="0" anchor="ctr"/>
          <a:lstStyle/>
          <a:p>
            <a:pPr marL="0" indent="0">
              <a:buNone/>
            </a:pPr>
            <a:r>
              <a:rPr lang="en-US" sz="1200" dirty="0">
                <a:solidFill>
                  <a:schemeClr val="accent5"/>
                </a:solidFill>
              </a:rPr>
              <a:t>LEAP Agritech Hackathon 2026  |  G. Madegowda Institute of Technology, Mandya</a:t>
            </a:r>
            <a:endParaRPr lang="en-US" sz="1200" dirty="0"/>
          </a:p>
        </p:txBody>
      </p:sp>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548640" y="1920240"/>
            <a:ext cx="11091672" cy="731520"/>
          </a:xfrm>
          <a:prstGeom prst="rect">
            <a:avLst/>
          </a:prstGeom>
          <a:noFill/>
        </p:spPr>
        <p:txBody>
          <a:bodyPr wrap="square" lIns="0" tIns="0" rIns="0" bIns="0" rtlCol="0" anchor="ctr"/>
          <a:lstStyle/>
          <a:p>
            <a:pPr marL="0" indent="0" algn="ctr">
              <a:buNone/>
            </a:pPr>
            <a:r>
              <a:rPr lang="en-US" sz="4000" b="1" dirty="0">
                <a:solidFill>
                  <a:schemeClr val="tx2"/>
                </a:solidFill>
              </a:rPr>
              <a:t>LEAP AGRITECH HACKATHON 2026</a:t>
            </a:r>
            <a:endParaRPr lang="en-US" sz="4000" dirty="0"/>
          </a:p>
        </p:txBody>
      </p:sp>
      <p:sp>
        <p:nvSpPr>
          <p:cNvPr id="3" name="Subtitle"/>
          <p:cNvSpPr txBox="1"/>
          <p:nvPr/>
        </p:nvSpPr>
        <p:spPr>
          <a:xfrm>
            <a:off x="548640" y="2697480"/>
            <a:ext cx="11091672" cy="457200"/>
          </a:xfrm>
          <a:prstGeom prst="rect">
            <a:avLst/>
          </a:prstGeom>
          <a:noFill/>
        </p:spPr>
        <p:txBody>
          <a:bodyPr wrap="square" lIns="0" tIns="0" rIns="0" bIns="0" rtlCol="0" anchor="ctr"/>
          <a:lstStyle/>
          <a:p>
            <a:pPr marL="0" indent="0" algn="ctr">
              <a:buNone/>
            </a:pPr>
            <a:r>
              <a:rPr lang="en-US" sz="2400" b="1" dirty="0">
                <a:solidFill>
                  <a:schemeClr val="accent1"/>
                </a:solidFill>
              </a:rPr>
              <a:t>Round 1  |  Idea Presentation</a:t>
            </a:r>
            <a:endParaRPr lang="en-US" sz="2400" dirty="0"/>
          </a:p>
        </p:txBody>
      </p:sp>
      <p:sp>
        <p:nvSpPr>
          <p:cNvPr id="4" name="College name"/>
          <p:cNvSpPr txBox="1"/>
          <p:nvPr/>
        </p:nvSpPr>
        <p:spPr>
          <a:xfrm>
            <a:off x="548640" y="3154680"/>
            <a:ext cx="11091672" cy="365760"/>
          </a:xfrm>
          <a:prstGeom prst="rect">
            <a:avLst/>
          </a:prstGeom>
          <a:noFill/>
        </p:spPr>
        <p:txBody>
          <a:bodyPr wrap="square" lIns="0" tIns="0" rIns="0" bIns="0" rtlCol="0" anchor="ctr"/>
          <a:lstStyle/>
          <a:p>
            <a:pPr marL="0" indent="0" algn="ctr">
              <a:buNone/>
            </a:pPr>
            <a:r>
              <a:rPr lang="en-US" sz="1800" dirty="0">
                <a:solidFill>
                  <a:schemeClr val="tx1"/>
                </a:solidFill>
              </a:rPr>
              <a:t>G. Madegowda Institute of Technology (GMIT), Mandya</a:t>
            </a:r>
            <a:endParaRPr lang="en-US" sz="1800" dirty="0"/>
          </a:p>
        </p:txBody>
      </p:sp>
      <p:graphicFrame>
        <p:nvGraphicFramePr>
          <p:cNvPr id="5" name="Team details table"/>
          <p:cNvGraphicFramePr>
            <a:graphicFrameLocks noGrp="1"/>
          </p:cNvGraphicFramePr>
          <p:nvPr/>
        </p:nvGraphicFramePr>
        <p:xfrm>
          <a:off x="548640" y="3703320"/>
          <a:ext cx="11091672" cy="2468880"/>
        </p:xfrm>
        <a:graphic>
          <a:graphicData uri="http://schemas.openxmlformats.org/drawingml/2006/table">
            <a:tbl>
              <a:tblPr/>
              <a:tblGrid>
                <a:gridCol w="3291840"/>
                <a:gridCol w="7799832"/>
              </a:tblGrid>
              <a:tr h="411480">
                <a:tc>
                  <a:txBody>
                    <a:bodyPr/>
                    <a:lstStyle/>
                    <a:p>
                      <a:pPr marL="0" indent="0">
                        <a:buNone/>
                      </a:pPr>
                      <a:r>
                        <a:rPr lang="en-US" sz="1600" b="1" dirty="0">
                          <a:solidFill>
                            <a:schemeClr val="tx2"/>
                          </a:solidFill>
                        </a:rPr>
                        <a:t>Problem Statement Title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accent5"/>
                          </a:solidFill>
                        </a:rPr>
                        <a:t>[Enter your problem statement title]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tcPr>
                </a:tc>
              </a:tr>
              <a:tr h="411480">
                <a:tc>
                  <a:txBody>
                    <a:bodyPr/>
                    <a:lstStyle/>
                    <a:p>
                      <a:pPr marL="0" indent="0">
                        <a:buNone/>
                      </a:pPr>
                      <a:r>
                        <a:rPr lang="en-US" sz="1600" b="1" dirty="0">
                          <a:solidFill>
                            <a:schemeClr val="tx2"/>
                          </a:solidFill>
                        </a:rPr>
                        <a:t>Theme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Agriculture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tcPr>
                </a:tc>
              </a:tr>
              <a:tr h="411480">
                <a:tc>
                  <a:txBody>
                    <a:bodyPr/>
                    <a:lstStyle/>
                    <a:p>
                      <a:pPr marL="0" indent="0">
                        <a:buNone/>
                      </a:pPr>
                      <a:r>
                        <a:rPr lang="en-US" sz="1600" b="1" dirty="0">
                          <a:solidFill>
                            <a:schemeClr val="tx2"/>
                          </a:solidFill>
                        </a:rPr>
                        <a:t>Team Name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accent5"/>
                          </a:solidFill>
                        </a:rPr>
                        <a:t>[Enter your team name]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tcPr>
                </a:tc>
              </a:tr>
              <a:tr h="411480">
                <a:tc>
                  <a:txBody>
                    <a:bodyPr/>
                    <a:lstStyle/>
                    <a:p>
                      <a:pPr marL="0" indent="0">
                        <a:buNone/>
                      </a:pPr>
                      <a:r>
                        <a:rPr lang="en-US" sz="1600" b="1" dirty="0">
                          <a:solidFill>
                            <a:schemeClr val="tx2"/>
                          </a:solidFill>
                        </a:rPr>
                        <a:t>Team Leader</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accent5"/>
                          </a:solidFill>
                        </a:rPr>
                        <a:t>[Name of the team leader]</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tcPr>
                </a:tc>
              </a:tr>
              <a:tr h="411480">
                <a:tc>
                  <a:txBody>
                    <a:bodyPr/>
                    <a:lstStyle/>
                    <a:p>
                      <a:pPr marL="0" indent="0">
                        <a:buNone/>
                      </a:pPr>
                      <a:r>
                        <a:rPr lang="en-US" sz="1600" b="1" dirty="0">
                          <a:solidFill>
                            <a:schemeClr val="tx2"/>
                          </a:solidFill>
                        </a:rPr>
                        <a:t>Team Members (up to 3)</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accent5"/>
                          </a:solidFill>
                        </a:rPr>
                        <a:t>[Names of all team members]</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tcPr>
                </a:tc>
              </a:tr>
              <a:tr h="411480">
                <a:tc>
                  <a:txBody>
                    <a:bodyPr/>
                    <a:lstStyle/>
                    <a:p>
                      <a:pPr marL="0" indent="0">
                        <a:buNone/>
                      </a:pPr>
                      <a:r>
                        <a:rPr lang="en-US" sz="1600" b="1" dirty="0">
                          <a:solidFill>
                            <a:schemeClr val="tx2"/>
                          </a:solidFill>
                        </a:rPr>
                        <a:t>College / Institution</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accent5"/>
                          </a:solidFill>
                        </a:rPr>
                        <a:t>[Enter your college name]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2011680" y="320040"/>
            <a:ext cx="7955280" cy="822960"/>
          </a:xfrm>
          <a:prstGeom prst="rect">
            <a:avLst/>
          </a:prstGeom>
          <a:noFill/>
        </p:spPr>
        <p:txBody>
          <a:bodyPr wrap="square" lIns="0" tIns="0" rIns="0" bIns="0" rtlCol="0" anchor="ctr"/>
          <a:lstStyle/>
          <a:p>
            <a:pPr marL="0" indent="0" algn="ctr">
              <a:buNone/>
            </a:pPr>
            <a:r>
              <a:rPr lang="en-US" sz="3600" b="1" dirty="0">
                <a:solidFill>
                  <a:schemeClr val="tx2"/>
                </a:solidFill>
              </a:rPr>
              <a:t>Problem Statement</a:t>
            </a:r>
            <a:endParaRPr lang="en-US" sz="3600" dirty="0"/>
          </a:p>
        </p:txBody>
      </p:sp>
      <p:sp>
        <p:nvSpPr>
          <p:cNvPr id="3" name="Problem description"/>
          <p:cNvSpPr txBox="1"/>
          <p:nvPr/>
        </p:nvSpPr>
        <p:spPr>
          <a:xfrm>
            <a:off x="548640" y="1463040"/>
            <a:ext cx="6949440" cy="4754880"/>
          </a:xfrm>
          <a:prstGeom prst="roundRect">
            <a:avLst>
              <a:gd name="adj" fmla="val 1538"/>
            </a:avLst>
          </a:prstGeom>
          <a:solidFill>
            <a:schemeClr val="bg2"/>
          </a:solidFill>
          <a:ln>
            <a:solidFill>
              <a:schemeClr val="bg2"/>
            </a:solidFill>
          </a:ln>
        </p:spPr>
        <p:txBody>
          <a:bodyPr wrap="square" lIns="203200" tIns="152400" rIns="203200" bIns="127000" rtlCol="0" anchor="t"/>
          <a:lstStyle/>
          <a:p>
            <a:pPr marL="0" indent="0">
              <a:spcAft>
                <a:spcPts val="600"/>
              </a:spcAft>
              <a:buNone/>
            </a:pPr>
            <a:r>
              <a:rPr lang="en-US" sz="1800" b="1" dirty="0">
                <a:solidFill>
                  <a:schemeClr val="accent1"/>
                </a:solidFill>
              </a:rPr>
              <a:t>Problem Description</a:t>
            </a:r>
            <a:endParaRPr lang="en-US" sz="1800" dirty="0"/>
          </a:p>
          <a:p>
            <a:pPr marL="342900" indent="-342900">
              <a:spcAft>
                <a:spcPts val="600"/>
              </a:spcAft>
              <a:buSzPct val="100000"/>
              <a:buChar char="•"/>
            </a:pPr>
            <a:r>
              <a:rPr lang="en-US" sz="1600" dirty="0">
                <a:solidFill>
                  <a:schemeClr val="tx1"/>
                </a:solidFill>
              </a:rPr>
              <a:t>Describe the problem .</a:t>
            </a:r>
            <a:endParaRPr lang="en-US" sz="1800" dirty="0"/>
          </a:p>
          <a:p>
            <a:pPr marL="342900" indent="-342900">
              <a:spcAft>
                <a:spcPts val="600"/>
              </a:spcAft>
              <a:buSzPct val="100000"/>
              <a:buChar char="•"/>
            </a:pPr>
            <a:r>
              <a:rPr lang="en-US" sz="1600" dirty="0">
                <a:solidFill>
                  <a:schemeClr val="tx1"/>
                </a:solidFill>
              </a:rPr>
              <a:t>Where and how does this problem occur in agriculture?</a:t>
            </a:r>
            <a:endParaRPr lang="en-US" sz="1800" dirty="0"/>
          </a:p>
          <a:p>
            <a:pPr marL="342900" indent="-342900">
              <a:spcAft>
                <a:spcPts val="600"/>
              </a:spcAft>
              <a:buSzPct val="100000"/>
              <a:buChar char="•"/>
            </a:pPr>
            <a:r>
              <a:rPr lang="en-US" sz="1600" dirty="0">
                <a:solidFill>
                  <a:schemeClr val="tx1"/>
                </a:solidFill>
              </a:rPr>
              <a:t>What is the current impact on farmers or the food chain?</a:t>
            </a:r>
            <a:endParaRPr lang="en-US" sz="1800" dirty="0"/>
          </a:p>
          <a:p>
            <a:pPr marL="342900" indent="-342900">
              <a:spcAft>
                <a:spcPts val="600"/>
              </a:spcAft>
              <a:buSzPct val="100000"/>
              <a:buChar char="•"/>
            </a:pPr>
            <a:r>
              <a:rPr lang="en-US" sz="1600" dirty="0">
                <a:solidFill>
                  <a:schemeClr val="tx1"/>
                </a:solidFill>
              </a:rPr>
              <a:t>Why is it important to solve this problem now?</a:t>
            </a:r>
            <a:endParaRPr lang="en-US" sz="1800" dirty="0"/>
          </a:p>
        </p:txBody>
      </p:sp>
      <p:sp>
        <p:nvSpPr>
          <p:cNvPr id="4" name="Who is affected"/>
          <p:cNvSpPr txBox="1"/>
          <p:nvPr/>
        </p:nvSpPr>
        <p:spPr>
          <a:xfrm>
            <a:off x="7726680" y="1463040"/>
            <a:ext cx="3913632" cy="2286000"/>
          </a:xfrm>
          <a:prstGeom prst="roundRect">
            <a:avLst>
              <a:gd name="adj" fmla="val 3200"/>
            </a:avLst>
          </a:prstGeom>
          <a:solidFill>
            <a:schemeClr val="bg2"/>
          </a:solidFill>
          <a:ln>
            <a:solidFill>
              <a:schemeClr val="bg2"/>
            </a:solidFill>
          </a:ln>
        </p:spPr>
        <p:txBody>
          <a:bodyPr wrap="square" lIns="203200" tIns="152400" rIns="203200" bIns="127000" rtlCol="0" anchor="t"/>
          <a:lstStyle/>
          <a:p>
            <a:pPr marL="0" indent="0">
              <a:spcAft>
                <a:spcPts val="600"/>
              </a:spcAft>
              <a:buNone/>
            </a:pPr>
            <a:r>
              <a:rPr lang="en-US" sz="1800" b="1" dirty="0">
                <a:solidFill>
                  <a:schemeClr val="accent1"/>
                </a:solidFill>
              </a:rPr>
              <a:t>Who Is Affected</a:t>
            </a:r>
            <a:endParaRPr lang="en-US" sz="1800" dirty="0"/>
          </a:p>
          <a:p>
            <a:pPr marL="342900" indent="-342900">
              <a:spcAft>
                <a:spcPts val="600"/>
              </a:spcAft>
              <a:buSzPct val="100000"/>
              <a:buChar char="•"/>
            </a:pPr>
            <a:r>
              <a:rPr lang="en-US" sz="1600" dirty="0">
                <a:solidFill>
                  <a:schemeClr val="tx1"/>
                </a:solidFill>
              </a:rPr>
              <a:t>Farmers, consumers or other stakeholders.</a:t>
            </a:r>
            <a:endParaRPr lang="en-US" sz="1800" dirty="0"/>
          </a:p>
          <a:p>
            <a:pPr marL="342900" indent="-342900">
              <a:spcAft>
                <a:spcPts val="600"/>
              </a:spcAft>
              <a:buSzPct val="100000"/>
              <a:buChar char="•"/>
            </a:pPr>
            <a:r>
              <a:rPr lang="en-US" sz="1600" dirty="0">
                <a:solidFill>
                  <a:schemeClr val="tx1"/>
                </a:solidFill>
              </a:rPr>
              <a:t>Size of the affected group or region.</a:t>
            </a:r>
            <a:endParaRPr lang="en-US" sz="1800" dirty="0"/>
          </a:p>
        </p:txBody>
      </p:sp>
      <p:sp>
        <p:nvSpPr>
          <p:cNvPr id="5" name="Evidence and data"/>
          <p:cNvSpPr txBox="1"/>
          <p:nvPr/>
        </p:nvSpPr>
        <p:spPr>
          <a:xfrm>
            <a:off x="7726680" y="3931920"/>
            <a:ext cx="3913632" cy="2286000"/>
          </a:xfrm>
          <a:prstGeom prst="roundRect">
            <a:avLst>
              <a:gd name="adj" fmla="val 3200"/>
            </a:avLst>
          </a:prstGeom>
          <a:solidFill>
            <a:schemeClr val="bg2"/>
          </a:solidFill>
          <a:ln>
            <a:solidFill>
              <a:schemeClr val="bg2"/>
            </a:solidFill>
          </a:ln>
        </p:spPr>
        <p:txBody>
          <a:bodyPr wrap="square" lIns="203200" tIns="152400" rIns="203200" bIns="127000" rtlCol="0" anchor="t"/>
          <a:lstStyle/>
          <a:p>
            <a:pPr marL="0" indent="0">
              <a:spcAft>
                <a:spcPts val="600"/>
              </a:spcAft>
              <a:buNone/>
            </a:pPr>
            <a:r>
              <a:rPr lang="en-US" sz="1800" b="1" dirty="0">
                <a:solidFill>
                  <a:schemeClr val="accent1"/>
                </a:solidFill>
              </a:rPr>
              <a:t>Evidence and Data</a:t>
            </a:r>
            <a:endParaRPr lang="en-US" sz="1800" dirty="0"/>
          </a:p>
          <a:p>
            <a:pPr marL="342900" indent="-342900">
              <a:spcAft>
                <a:spcPts val="600"/>
              </a:spcAft>
              <a:buSzPct val="100000"/>
              <a:buChar char="•"/>
            </a:pPr>
            <a:r>
              <a:rPr lang="en-US" sz="1600" dirty="0">
                <a:solidFill>
                  <a:schemeClr val="tx1"/>
                </a:solidFill>
              </a:rPr>
              <a:t>Key statistics or facts.</a:t>
            </a:r>
            <a:endParaRPr lang="en-US" sz="1800" dirty="0"/>
          </a:p>
          <a:p>
            <a:pPr marL="342900" indent="-342900">
              <a:spcAft>
                <a:spcPts val="600"/>
              </a:spcAft>
              <a:buSzPct val="100000"/>
              <a:buChar char="•"/>
            </a:pPr>
            <a:r>
              <a:rPr lang="en-US" sz="1600" dirty="0">
                <a:solidFill>
                  <a:schemeClr val="tx1"/>
                </a:solidFill>
              </a:rPr>
              <a:t>Source or reference link.</a:t>
            </a:r>
            <a:endParaRPr lang="en-US" sz="1800" dirty="0"/>
          </a:p>
        </p:txBody>
      </p:sp>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2011680" y="320040"/>
            <a:ext cx="7955280" cy="822960"/>
          </a:xfrm>
          <a:prstGeom prst="rect">
            <a:avLst/>
          </a:prstGeom>
          <a:noFill/>
        </p:spPr>
        <p:txBody>
          <a:bodyPr wrap="square" lIns="0" tIns="0" rIns="0" bIns="0" rtlCol="0" anchor="ctr"/>
          <a:lstStyle/>
          <a:p>
            <a:pPr marL="0" indent="0" algn="ctr">
              <a:buNone/>
            </a:pPr>
            <a:r>
              <a:rPr lang="en-US" sz="3600" b="1" dirty="0">
                <a:solidFill>
                  <a:schemeClr val="tx2"/>
                </a:solidFill>
              </a:rPr>
              <a:t>Existing Solutions</a:t>
            </a:r>
            <a:endParaRPr lang="en-US" sz="3600" dirty="0"/>
          </a:p>
        </p:txBody>
      </p:sp>
      <p:graphicFrame>
        <p:nvGraphicFramePr>
          <p:cNvPr id="4" name="Existing solutions table"/>
          <p:cNvGraphicFramePr>
            <a:graphicFrameLocks noGrp="1"/>
          </p:cNvGraphicFramePr>
          <p:nvPr/>
        </p:nvGraphicFramePr>
        <p:xfrm>
          <a:off x="548640" y="1463040"/>
          <a:ext cx="11091672" cy="3063240"/>
        </p:xfrm>
        <a:graphic>
          <a:graphicData uri="http://schemas.openxmlformats.org/drawingml/2006/table">
            <a:tbl>
              <a:tblPr/>
              <a:tblGrid>
                <a:gridCol w="731520"/>
                <a:gridCol w="3200400"/>
                <a:gridCol w="3566160"/>
                <a:gridCol w="3593592"/>
              </a:tblGrid>
              <a:tr h="457200">
                <a:tc>
                  <a:txBody>
                    <a:bodyPr/>
                    <a:lstStyle/>
                    <a:p>
                      <a:pPr marL="0" indent="0">
                        <a:buNone/>
                      </a:pPr>
                      <a:r>
                        <a:rPr lang="en-US" sz="1600" b="1" dirty="0">
                          <a:solidFill>
                            <a:schemeClr val="bg1"/>
                          </a:solidFill>
                        </a:rPr>
                        <a:t>#</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accent2"/>
                    </a:solidFill>
                  </a:tcPr>
                </a:tc>
                <a:tc>
                  <a:txBody>
                    <a:bodyPr/>
                    <a:lstStyle/>
                    <a:p>
                      <a:pPr marL="0" indent="0">
                        <a:buNone/>
                      </a:pPr>
                      <a:r>
                        <a:rPr lang="en-US" sz="1600" b="1" dirty="0">
                          <a:solidFill>
                            <a:schemeClr val="bg1"/>
                          </a:solidFill>
                        </a:rPr>
                        <a:t>Existing Solution / Product</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accent2"/>
                    </a:solidFill>
                  </a:tcPr>
                </a:tc>
                <a:tc>
                  <a:txBody>
                    <a:bodyPr/>
                    <a:lstStyle/>
                    <a:p>
                      <a:pPr marL="0" indent="0">
                        <a:buNone/>
                      </a:pPr>
                      <a:r>
                        <a:rPr lang="en-US" sz="1600" b="1" dirty="0">
                          <a:solidFill>
                            <a:schemeClr val="bg1"/>
                          </a:solidFill>
                        </a:rPr>
                        <a:t>How It Works</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accent2"/>
                    </a:solidFill>
                  </a:tcPr>
                </a:tc>
                <a:tc>
                  <a:txBody>
                    <a:bodyPr/>
                    <a:lstStyle/>
                    <a:p>
                      <a:pPr marL="0" indent="0">
                        <a:buNone/>
                      </a:pPr>
                      <a:r>
                        <a:rPr lang="en-US" sz="1600" b="1" dirty="0">
                          <a:solidFill>
                            <a:schemeClr val="bg1"/>
                          </a:solidFill>
                        </a:rPr>
                        <a:t>Limitations / Gaps</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accent2"/>
                    </a:solidFill>
                  </a:tcPr>
                </a:tc>
              </a:tr>
              <a:tr h="868680">
                <a:tc>
                  <a:txBody>
                    <a:bodyPr/>
                    <a:lstStyle/>
                    <a:p>
                      <a:pPr marL="0" indent="0" algn="ctr">
                        <a:buNone/>
                      </a:pPr>
                      <a:r>
                        <a:rPr lang="en-US" sz="1600" b="1" dirty="0">
                          <a:solidFill>
                            <a:schemeClr val="tx2"/>
                          </a:solidFill>
                        </a:rPr>
                        <a:t>1</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1"/>
                    </a:solidFill>
                  </a:tcPr>
                </a:tc>
                <a:tc>
                  <a:txBody>
                    <a:bodyPr/>
                    <a:lstStyle/>
                    <a:p>
                      <a:pPr marL="0" indent="0">
                        <a:buNone/>
                      </a:pPr>
                      <a:r>
                        <a:rPr lang="en-US" sz="1600" dirty="0">
                          <a:solidFill>
                            <a:schemeClr val="accent5"/>
                          </a:solidFill>
                        </a:rPr>
                        <a:t>[Name of existing solution]</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1"/>
                    </a:solidFill>
                  </a:tcPr>
                </a:tc>
                <a:tc>
                  <a:txBody>
                    <a:bodyPr/>
                    <a:lstStyle/>
                    <a:p>
                      <a:pPr marL="0" indent="0">
                        <a:buNone/>
                      </a:pPr>
                      <a:r>
                        <a:rPr lang="en-US" sz="1600" dirty="0">
                          <a:solidFill>
                            <a:schemeClr val="accent5"/>
                          </a:solidFill>
                        </a:rPr>
                        <a:t>[Brief working principle]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1"/>
                    </a:solidFill>
                  </a:tcPr>
                </a:tc>
                <a:tc>
                  <a:txBody>
                    <a:bodyPr/>
                    <a:lstStyle/>
                    <a:p>
                      <a:pPr marL="0" indent="0">
                        <a:buNone/>
                      </a:pPr>
                      <a:r>
                        <a:rPr lang="en-US" sz="1600" dirty="0">
                          <a:solidFill>
                            <a:schemeClr val="accent5"/>
                          </a:solidFill>
                        </a:rPr>
                        <a:t>[Why it falls short]</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1"/>
                    </a:solidFill>
                  </a:tcPr>
                </a:tc>
              </a:tr>
              <a:tr h="868680">
                <a:tc>
                  <a:txBody>
                    <a:bodyPr/>
                    <a:lstStyle/>
                    <a:p>
                      <a:pPr marL="0" indent="0" algn="ctr">
                        <a:buNone/>
                      </a:pPr>
                      <a:r>
                        <a:rPr lang="en-US" sz="1600" b="1" dirty="0">
                          <a:solidFill>
                            <a:schemeClr val="tx2"/>
                          </a:solidFill>
                        </a:rPr>
                        <a:t>2</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accent5"/>
                          </a:solidFill>
                        </a:rPr>
                        <a:t>[Name of existing solution]</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accent5"/>
                          </a:solidFill>
                        </a:rPr>
                        <a:t>[Brief working principle]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accent5"/>
                          </a:solidFill>
                        </a:rPr>
                        <a:t>[Why it falls short]</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r>
              <a:tr h="868680">
                <a:tc>
                  <a:txBody>
                    <a:bodyPr/>
                    <a:lstStyle/>
                    <a:p>
                      <a:pPr marL="0" indent="0" algn="ctr">
                        <a:buNone/>
                      </a:pPr>
                      <a:r>
                        <a:rPr lang="en-US" sz="1600" b="1" dirty="0">
                          <a:solidFill>
                            <a:schemeClr val="tx2"/>
                          </a:solidFill>
                        </a:rPr>
                        <a:t>3</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1"/>
                    </a:solidFill>
                  </a:tcPr>
                </a:tc>
                <a:tc>
                  <a:txBody>
                    <a:bodyPr/>
                    <a:lstStyle/>
                    <a:p>
                      <a:pPr marL="0" indent="0">
                        <a:buNone/>
                      </a:pPr>
                      <a:r>
                        <a:rPr lang="en-US" sz="1600" dirty="0">
                          <a:solidFill>
                            <a:schemeClr val="accent5"/>
                          </a:solidFill>
                        </a:rPr>
                        <a:t>[Name of existing solution]</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1"/>
                    </a:solidFill>
                  </a:tcPr>
                </a:tc>
                <a:tc>
                  <a:txBody>
                    <a:bodyPr/>
                    <a:lstStyle/>
                    <a:p>
                      <a:pPr marL="0" indent="0">
                        <a:buNone/>
                      </a:pPr>
                      <a:r>
                        <a:rPr lang="en-US" sz="1600" dirty="0">
                          <a:solidFill>
                            <a:schemeClr val="accent5"/>
                          </a:solidFill>
                        </a:rPr>
                        <a:t>[Brief working principle]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1"/>
                    </a:solidFill>
                  </a:tcPr>
                </a:tc>
                <a:tc>
                  <a:txBody>
                    <a:bodyPr/>
                    <a:lstStyle/>
                    <a:p>
                      <a:pPr marL="0" indent="0">
                        <a:buNone/>
                      </a:pPr>
                      <a:r>
                        <a:rPr lang="en-US" sz="1600" dirty="0">
                          <a:solidFill>
                            <a:schemeClr val="accent5"/>
                          </a:solidFill>
                        </a:rPr>
                        <a:t>[Why it falls short]</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1"/>
                    </a:solidFill>
                  </a:tcPr>
                </a:tc>
              </a:tr>
            </a:tbl>
          </a:graphicData>
        </a:graphic>
      </p:graphicFrame>
      <p:sp>
        <p:nvSpPr>
          <p:cNvPr id="3" name="Research gap"/>
          <p:cNvSpPr txBox="1"/>
          <p:nvPr/>
        </p:nvSpPr>
        <p:spPr>
          <a:xfrm>
            <a:off x="548640" y="4846320"/>
            <a:ext cx="11091672" cy="1371600"/>
          </a:xfrm>
          <a:prstGeom prst="roundRect">
            <a:avLst>
              <a:gd name="adj" fmla="val 5333"/>
            </a:avLst>
          </a:prstGeom>
          <a:solidFill>
            <a:schemeClr val="bg2"/>
          </a:solidFill>
          <a:ln>
            <a:solidFill>
              <a:schemeClr val="bg2"/>
            </a:solidFill>
          </a:ln>
        </p:spPr>
        <p:txBody>
          <a:bodyPr wrap="square" lIns="203200" tIns="152400" rIns="203200" bIns="127000" rtlCol="0" anchor="t"/>
          <a:lstStyle/>
          <a:p>
            <a:pPr marL="0" indent="0">
              <a:spcAft>
                <a:spcPts val="600"/>
              </a:spcAft>
              <a:buNone/>
            </a:pPr>
            <a:r>
              <a:rPr lang="en-US" sz="1800" b="1" dirty="0">
                <a:solidFill>
                  <a:schemeClr val="accent1"/>
                </a:solidFill>
              </a:rPr>
              <a:t>Research Gap Identified</a:t>
            </a:r>
            <a:endParaRPr lang="en-US" sz="1800" dirty="0"/>
          </a:p>
          <a:p>
            <a:pPr marL="342900" indent="-342900">
              <a:spcAft>
                <a:spcPts val="600"/>
              </a:spcAft>
              <a:buSzPct val="100000"/>
              <a:buChar char="•"/>
            </a:pPr>
            <a:r>
              <a:rPr lang="en-US" sz="1600" dirty="0">
                <a:solidFill>
                  <a:schemeClr val="tx1"/>
                </a:solidFill>
              </a:rPr>
              <a:t>In one or two lines, state what is still missing in current solutions.</a:t>
            </a:r>
            <a:endParaRPr lang="en-US" sz="1800" dirty="0"/>
          </a:p>
        </p:txBody>
      </p:sp>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2011680" y="320040"/>
            <a:ext cx="7955280" cy="822960"/>
          </a:xfrm>
          <a:prstGeom prst="rect">
            <a:avLst/>
          </a:prstGeom>
          <a:noFill/>
        </p:spPr>
        <p:txBody>
          <a:bodyPr wrap="square" lIns="0" tIns="0" rIns="0" bIns="0" rtlCol="0" anchor="ctr"/>
          <a:lstStyle/>
          <a:p>
            <a:pPr marL="0" indent="0" algn="ctr">
              <a:buNone/>
            </a:pPr>
            <a:r>
              <a:rPr lang="en-US" sz="3600" b="1" dirty="0">
                <a:solidFill>
                  <a:schemeClr val="tx2"/>
                </a:solidFill>
              </a:rPr>
              <a:t>Our Solution</a:t>
            </a:r>
            <a:endParaRPr lang="en-US" sz="3600" dirty="0"/>
          </a:p>
        </p:txBody>
      </p:sp>
      <p:sp>
        <p:nvSpPr>
          <p:cNvPr id="3" name="Proposed solution"/>
          <p:cNvSpPr txBox="1"/>
          <p:nvPr/>
        </p:nvSpPr>
        <p:spPr>
          <a:xfrm>
            <a:off x="548640" y="1463040"/>
            <a:ext cx="6949440" cy="4754880"/>
          </a:xfrm>
          <a:prstGeom prst="roundRect">
            <a:avLst>
              <a:gd name="adj" fmla="val 1538"/>
            </a:avLst>
          </a:prstGeom>
          <a:solidFill>
            <a:schemeClr val="bg2"/>
          </a:solidFill>
          <a:ln>
            <a:solidFill>
              <a:schemeClr val="bg2"/>
            </a:solidFill>
          </a:ln>
        </p:spPr>
        <p:txBody>
          <a:bodyPr wrap="square" lIns="203200" tIns="152400" rIns="203200" bIns="127000" rtlCol="0" anchor="t"/>
          <a:lstStyle/>
          <a:p>
            <a:pPr marL="0" indent="0">
              <a:spcAft>
                <a:spcPts val="600"/>
              </a:spcAft>
              <a:buNone/>
            </a:pPr>
            <a:r>
              <a:rPr lang="en-US" sz="1800" b="1" dirty="0">
                <a:solidFill>
                  <a:schemeClr val="accent1"/>
                </a:solidFill>
              </a:rPr>
              <a:t>Proposed Solution</a:t>
            </a:r>
            <a:endParaRPr lang="en-US" sz="1800" dirty="0"/>
          </a:p>
          <a:p>
            <a:pPr marL="342900" indent="-342900">
              <a:spcAft>
                <a:spcPts val="600"/>
              </a:spcAft>
              <a:buSzPct val="100000"/>
              <a:buChar char="•"/>
            </a:pPr>
            <a:r>
              <a:rPr lang="en-US" sz="1600" dirty="0">
                <a:solidFill>
                  <a:schemeClr val="tx1"/>
                </a:solidFill>
              </a:rPr>
              <a:t>Name of your solution and a one-line summary.</a:t>
            </a:r>
            <a:endParaRPr lang="en-US" sz="1800" dirty="0"/>
          </a:p>
          <a:p>
            <a:pPr marL="342900" indent="-342900">
              <a:spcAft>
                <a:spcPts val="600"/>
              </a:spcAft>
              <a:buSzPct val="100000"/>
              <a:buChar char="•"/>
            </a:pPr>
            <a:r>
              <a:rPr lang="en-US" sz="1600" dirty="0">
                <a:solidFill>
                  <a:schemeClr val="tx1"/>
                </a:solidFill>
              </a:rPr>
              <a:t>What it does and how it works, in simple steps.</a:t>
            </a:r>
            <a:endParaRPr lang="en-US" sz="1800" dirty="0"/>
          </a:p>
          <a:p>
            <a:pPr marL="342900" indent="-342900">
              <a:spcAft>
                <a:spcPts val="600"/>
              </a:spcAft>
              <a:buSzPct val="100000"/>
              <a:buChar char="•"/>
            </a:pPr>
            <a:r>
              <a:rPr lang="en-US" sz="1600" dirty="0">
                <a:solidFill>
                  <a:schemeClr val="tx1"/>
                </a:solidFill>
              </a:rPr>
              <a:t>Who will use it and how (farmer, consumer, etc.).</a:t>
            </a:r>
            <a:endParaRPr lang="en-US" sz="1800" dirty="0"/>
          </a:p>
          <a:p>
            <a:pPr marL="342900" indent="-342900">
              <a:spcAft>
                <a:spcPts val="600"/>
              </a:spcAft>
              <a:buSzPct val="100000"/>
              <a:buChar char="•"/>
            </a:pPr>
            <a:r>
              <a:rPr lang="en-US" sz="1600" dirty="0">
                <a:solidFill>
                  <a:schemeClr val="tx1"/>
                </a:solidFill>
              </a:rPr>
              <a:t>Key features of the solution.</a:t>
            </a:r>
            <a:endParaRPr lang="en-US" sz="1800" dirty="0"/>
          </a:p>
        </p:txBody>
      </p:sp>
      <p:sp>
        <p:nvSpPr>
          <p:cNvPr id="4" name="How it solves the problem"/>
          <p:cNvSpPr txBox="1"/>
          <p:nvPr/>
        </p:nvSpPr>
        <p:spPr>
          <a:xfrm>
            <a:off x="7726680" y="1463040"/>
            <a:ext cx="3913632" cy="2286000"/>
          </a:xfrm>
          <a:prstGeom prst="roundRect">
            <a:avLst>
              <a:gd name="adj" fmla="val 3200"/>
            </a:avLst>
          </a:prstGeom>
          <a:solidFill>
            <a:schemeClr val="bg2"/>
          </a:solidFill>
          <a:ln>
            <a:solidFill>
              <a:schemeClr val="bg2"/>
            </a:solidFill>
          </a:ln>
        </p:spPr>
        <p:txBody>
          <a:bodyPr wrap="square" lIns="203200" tIns="152400" rIns="203200" bIns="127000" rtlCol="0" anchor="t"/>
          <a:lstStyle/>
          <a:p>
            <a:pPr marL="0" indent="0">
              <a:spcAft>
                <a:spcPts val="600"/>
              </a:spcAft>
              <a:buNone/>
            </a:pPr>
            <a:r>
              <a:rPr lang="en-US" sz="1800" b="1" dirty="0">
                <a:solidFill>
                  <a:schemeClr val="accent1"/>
                </a:solidFill>
              </a:rPr>
              <a:t>How It Solves the Problem</a:t>
            </a:r>
            <a:endParaRPr lang="en-US" sz="1800" dirty="0"/>
          </a:p>
          <a:p>
            <a:pPr marL="342900" indent="-342900">
              <a:spcAft>
                <a:spcPts val="600"/>
              </a:spcAft>
              <a:buSzPct val="100000"/>
              <a:buChar char="•"/>
            </a:pPr>
            <a:r>
              <a:rPr lang="en-US" sz="1600" dirty="0">
                <a:solidFill>
                  <a:schemeClr val="tx1"/>
                </a:solidFill>
              </a:rPr>
              <a:t>Link each feature to the problem it addresses.</a:t>
            </a:r>
            <a:endParaRPr lang="en-US" sz="1800" dirty="0"/>
          </a:p>
          <a:p>
            <a:pPr marL="342900" indent="-342900">
              <a:spcAft>
                <a:spcPts val="600"/>
              </a:spcAft>
              <a:buSzPct val="100000"/>
              <a:buChar char="•"/>
            </a:pPr>
            <a:r>
              <a:rPr lang="en-US" sz="1600" dirty="0">
                <a:solidFill>
                  <a:schemeClr val="tx1"/>
                </a:solidFill>
              </a:rPr>
              <a:t>Expected result or outcome.</a:t>
            </a:r>
            <a:endParaRPr lang="en-US" sz="1800" dirty="0"/>
          </a:p>
        </p:txBody>
      </p:sp>
      <p:sp>
        <p:nvSpPr>
          <p:cNvPr id="5" name="Innovation and uniqueness"/>
          <p:cNvSpPr txBox="1"/>
          <p:nvPr/>
        </p:nvSpPr>
        <p:spPr>
          <a:xfrm>
            <a:off x="7726680" y="3931920"/>
            <a:ext cx="3913632" cy="2286000"/>
          </a:xfrm>
          <a:prstGeom prst="roundRect">
            <a:avLst>
              <a:gd name="adj" fmla="val 3200"/>
            </a:avLst>
          </a:prstGeom>
          <a:solidFill>
            <a:schemeClr val="bg2"/>
          </a:solidFill>
          <a:ln>
            <a:solidFill>
              <a:schemeClr val="bg2"/>
            </a:solidFill>
          </a:ln>
        </p:spPr>
        <p:txBody>
          <a:bodyPr wrap="square" lIns="203200" tIns="152400" rIns="203200" bIns="127000" rtlCol="0" anchor="t"/>
          <a:lstStyle/>
          <a:p>
            <a:pPr marL="0" indent="0">
              <a:spcAft>
                <a:spcPts val="600"/>
              </a:spcAft>
              <a:buNone/>
            </a:pPr>
            <a:r>
              <a:rPr lang="en-US" sz="1800" b="1" dirty="0">
                <a:solidFill>
                  <a:schemeClr val="accent1"/>
                </a:solidFill>
              </a:rPr>
              <a:t>Innovation and Uniqueness</a:t>
            </a:r>
            <a:endParaRPr lang="en-US" sz="1800" dirty="0"/>
          </a:p>
          <a:p>
            <a:pPr marL="342900" indent="-342900">
              <a:spcAft>
                <a:spcPts val="600"/>
              </a:spcAft>
              <a:buSzPct val="100000"/>
              <a:buChar char="•"/>
            </a:pPr>
            <a:r>
              <a:rPr lang="en-US" sz="1600" dirty="0">
                <a:solidFill>
                  <a:schemeClr val="tx1"/>
                </a:solidFill>
              </a:rPr>
              <a:t>What makes your idea new or different.</a:t>
            </a:r>
            <a:endParaRPr lang="en-US" sz="1800" dirty="0"/>
          </a:p>
          <a:p>
            <a:pPr marL="342900" indent="-342900">
              <a:spcAft>
                <a:spcPts val="600"/>
              </a:spcAft>
              <a:buSzPct val="100000"/>
              <a:buChar char="•"/>
            </a:pPr>
            <a:r>
              <a:rPr lang="en-US" sz="1600" dirty="0">
                <a:solidFill>
                  <a:schemeClr val="tx1"/>
                </a:solidFill>
              </a:rPr>
              <a:t>Advantage over existing solutions.</a:t>
            </a:r>
            <a:endParaRPr lang="en-US" sz="1800" dirty="0"/>
          </a:p>
        </p:txBody>
      </p:sp>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2011680" y="320040"/>
            <a:ext cx="7955280" cy="822960"/>
          </a:xfrm>
          <a:prstGeom prst="rect">
            <a:avLst/>
          </a:prstGeom>
          <a:noFill/>
        </p:spPr>
        <p:txBody>
          <a:bodyPr wrap="square" lIns="0" tIns="0" rIns="0" bIns="0" rtlCol="0" anchor="ctr"/>
          <a:lstStyle/>
          <a:p>
            <a:pPr marL="0" indent="0" algn="ctr">
              <a:buNone/>
            </a:pPr>
            <a:r>
              <a:rPr lang="en-US" sz="3600" b="1" dirty="0">
                <a:solidFill>
                  <a:schemeClr val="tx2"/>
                </a:solidFill>
              </a:rPr>
              <a:t>Technical Approach</a:t>
            </a:r>
            <a:endParaRPr lang="en-US" sz="3600" dirty="0"/>
          </a:p>
        </p:txBody>
      </p:sp>
      <p:sp>
        <p:nvSpPr>
          <p:cNvPr id="3" name="Diagram placeholder"/>
          <p:cNvSpPr txBox="1"/>
          <p:nvPr/>
        </p:nvSpPr>
        <p:spPr>
          <a:xfrm>
            <a:off x="548640" y="1463040"/>
            <a:ext cx="5577840" cy="2377440"/>
          </a:xfrm>
          <a:prstGeom prst="roundRect">
            <a:avLst>
              <a:gd name="adj" fmla="val 3077"/>
            </a:avLst>
          </a:prstGeom>
          <a:solidFill>
            <a:schemeClr val="bg1"/>
          </a:solidFill>
          <a:ln w="19050">
            <a:solidFill>
              <a:schemeClr val="accent5"/>
            </a:solidFill>
            <a:prstDash val="dash"/>
          </a:ln>
        </p:spPr>
        <p:txBody>
          <a:bodyPr wrap="square" lIns="304800" tIns="127000" rIns="304800" bIns="127000" rtlCol="0" anchor="ctr"/>
          <a:lstStyle/>
          <a:p>
            <a:pPr marL="0" indent="0" algn="ctr">
              <a:buNone/>
            </a:pPr>
            <a:r>
              <a:rPr lang="en-US" sz="1600" dirty="0">
                <a:solidFill>
                  <a:schemeClr val="accent5"/>
                </a:solidFill>
              </a:rPr>
              <a:t>Insert architecture diagram, flowchart or prototype sketch here</a:t>
            </a:r>
            <a:endParaRPr lang="en-US" sz="1600" dirty="0"/>
          </a:p>
        </p:txBody>
      </p:sp>
      <p:sp>
        <p:nvSpPr>
          <p:cNvPr id="4" name="Tech stack heading"/>
          <p:cNvSpPr txBox="1"/>
          <p:nvPr/>
        </p:nvSpPr>
        <p:spPr>
          <a:xfrm>
            <a:off x="548640" y="3977640"/>
            <a:ext cx="5577840" cy="365760"/>
          </a:xfrm>
          <a:prstGeom prst="rect">
            <a:avLst/>
          </a:prstGeom>
          <a:noFill/>
        </p:spPr>
        <p:txBody>
          <a:bodyPr wrap="square" lIns="0" tIns="0" rIns="0" bIns="0" rtlCol="0" anchor="ctr"/>
          <a:lstStyle/>
          <a:p>
            <a:pPr marL="0" indent="0">
              <a:buNone/>
            </a:pPr>
            <a:r>
              <a:rPr lang="en-US" sz="2000" b="1" dirty="0">
                <a:solidFill>
                  <a:schemeClr val="tx2"/>
                </a:solidFill>
              </a:rPr>
              <a:t>Technology Stack</a:t>
            </a:r>
            <a:endParaRPr lang="en-US" sz="2000" dirty="0"/>
          </a:p>
        </p:txBody>
      </p:sp>
      <p:sp>
        <p:nvSpPr>
          <p:cNvPr id="5" name="Methodology heading"/>
          <p:cNvSpPr txBox="1"/>
          <p:nvPr/>
        </p:nvSpPr>
        <p:spPr>
          <a:xfrm>
            <a:off x="6400800" y="1417320"/>
            <a:ext cx="5239512" cy="365760"/>
          </a:xfrm>
          <a:prstGeom prst="rect">
            <a:avLst/>
          </a:prstGeom>
          <a:noFill/>
        </p:spPr>
        <p:txBody>
          <a:bodyPr wrap="square" lIns="0" tIns="0" rIns="0" bIns="0" rtlCol="0" anchor="ctr"/>
          <a:lstStyle/>
          <a:p>
            <a:pPr marL="0" indent="0">
              <a:buNone/>
            </a:pPr>
            <a:r>
              <a:rPr lang="en-US" sz="2000" b="1" dirty="0">
                <a:solidFill>
                  <a:schemeClr val="tx2"/>
                </a:solidFill>
              </a:rPr>
              <a:t>Methodology</a:t>
            </a:r>
            <a:endParaRPr lang="en-US" sz="2000" dirty="0"/>
          </a:p>
        </p:txBody>
      </p:sp>
      <p:sp>
        <p:nvSpPr>
          <p:cNvPr id="6" name="Hardware / IoT card"/>
          <p:cNvSpPr txBox="1"/>
          <p:nvPr/>
        </p:nvSpPr>
        <p:spPr>
          <a:xfrm>
            <a:off x="548640" y="4434840"/>
            <a:ext cx="2651760" cy="822960"/>
          </a:xfrm>
          <a:prstGeom prst="roundRect">
            <a:avLst>
              <a:gd name="adj" fmla="val 8889"/>
            </a:avLst>
          </a:prstGeom>
          <a:solidFill>
            <a:schemeClr val="bg2"/>
          </a:solidFill>
          <a:ln>
            <a:solidFill>
              <a:schemeClr val="bg2"/>
            </a:solidFill>
          </a:ln>
        </p:spPr>
        <p:txBody>
          <a:bodyPr wrap="square" lIns="812800" tIns="50800" rIns="101600" bIns="50800" rtlCol="0" anchor="ctr"/>
          <a:lstStyle/>
          <a:p>
            <a:pPr marL="0" indent="0">
              <a:buNone/>
            </a:pPr>
            <a:r>
              <a:rPr lang="en-US" sz="1600" b="1" dirty="0">
                <a:solidFill>
                  <a:schemeClr val="tx2"/>
                </a:solidFill>
              </a:rPr>
              <a:t>Hardware / IoT</a:t>
            </a:r>
            <a:endParaRPr lang="en-US" sz="1600" dirty="0"/>
          </a:p>
          <a:p>
            <a:pPr marL="0" indent="0">
              <a:buNone/>
            </a:pPr>
            <a:r>
              <a:rPr lang="en-US" sz="1400" dirty="0">
                <a:solidFill>
                  <a:schemeClr val="accent5"/>
                </a:solidFill>
              </a:rPr>
              <a:t>[Sensors, boards]</a:t>
            </a:r>
            <a:endParaRPr lang="en-US" sz="1600" dirty="0"/>
          </a:p>
        </p:txBody>
      </p:sp>
      <p:sp>
        <p:nvSpPr>
          <p:cNvPr id="7" name="Hardware / IoT icon circle"/>
          <p:cNvSpPr/>
          <p:nvPr/>
        </p:nvSpPr>
        <p:spPr>
          <a:xfrm>
            <a:off x="685800" y="4617720"/>
            <a:ext cx="457200" cy="457200"/>
          </a:xfrm>
          <a:prstGeom prst="ellipse">
            <a:avLst/>
          </a:prstGeom>
          <a:solidFill>
            <a:schemeClr val="accent1"/>
          </a:solidFill>
          <a:ln w="12700">
            <a:solidFill>
              <a:schemeClr val="accent1"/>
            </a:solidFill>
            <a:prstDash val="solid"/>
          </a:ln>
        </p:spPr>
      </p:sp>
      <p:pic>
        <p:nvPicPr>
          <p:cNvPr id="8" name="Image 0" descr="Hardware / IoT icon"/>
          <p:cNvPicPr>
            <a:picLocks noChangeAspect="1"/>
          </p:cNvPicPr>
          <p:nvPr/>
        </p:nvPicPr>
        <p:blipFill>
          <a:blip r:embed="rId1"/>
          <a:stretch>
            <a:fillRect/>
          </a:stretch>
        </p:blipFill>
        <p:spPr>
          <a:xfrm>
            <a:off x="800100" y="4732020"/>
            <a:ext cx="228600" cy="228600"/>
          </a:xfrm>
          <a:prstGeom prst="rect">
            <a:avLst/>
          </a:prstGeom>
        </p:spPr>
      </p:pic>
      <p:sp>
        <p:nvSpPr>
          <p:cNvPr id="9" name="Software / Apps card"/>
          <p:cNvSpPr txBox="1"/>
          <p:nvPr/>
        </p:nvSpPr>
        <p:spPr>
          <a:xfrm>
            <a:off x="3474720" y="4434840"/>
            <a:ext cx="2651760" cy="822960"/>
          </a:xfrm>
          <a:prstGeom prst="roundRect">
            <a:avLst>
              <a:gd name="adj" fmla="val 8889"/>
            </a:avLst>
          </a:prstGeom>
          <a:solidFill>
            <a:schemeClr val="bg2"/>
          </a:solidFill>
          <a:ln>
            <a:solidFill>
              <a:schemeClr val="bg2"/>
            </a:solidFill>
          </a:ln>
        </p:spPr>
        <p:txBody>
          <a:bodyPr wrap="square" lIns="812800" tIns="50800" rIns="101600" bIns="50800" rtlCol="0" anchor="ctr"/>
          <a:lstStyle/>
          <a:p>
            <a:pPr marL="0" indent="0">
              <a:buNone/>
            </a:pPr>
            <a:r>
              <a:rPr lang="en-US" sz="1600" b="1" dirty="0">
                <a:solidFill>
                  <a:schemeClr val="tx2"/>
                </a:solidFill>
              </a:rPr>
              <a:t>Software / Apps</a:t>
            </a:r>
            <a:endParaRPr lang="en-US" sz="1600" dirty="0"/>
          </a:p>
          <a:p>
            <a:pPr marL="0" indent="0">
              <a:buNone/>
            </a:pPr>
            <a:r>
              <a:rPr lang="en-US" sz="1400" dirty="0">
                <a:solidFill>
                  <a:schemeClr val="accent5"/>
                </a:solidFill>
              </a:rPr>
              <a:t>[Languages, apps]</a:t>
            </a:r>
            <a:endParaRPr lang="en-US" sz="1600" dirty="0"/>
          </a:p>
        </p:txBody>
      </p:sp>
      <p:sp>
        <p:nvSpPr>
          <p:cNvPr id="10" name="Software / Apps icon circle"/>
          <p:cNvSpPr/>
          <p:nvPr/>
        </p:nvSpPr>
        <p:spPr>
          <a:xfrm>
            <a:off x="3611880" y="4617720"/>
            <a:ext cx="457200" cy="457200"/>
          </a:xfrm>
          <a:prstGeom prst="ellipse">
            <a:avLst/>
          </a:prstGeom>
          <a:solidFill>
            <a:schemeClr val="accent1"/>
          </a:solidFill>
          <a:ln w="12700">
            <a:solidFill>
              <a:schemeClr val="accent1"/>
            </a:solidFill>
            <a:prstDash val="solid"/>
          </a:ln>
        </p:spPr>
      </p:sp>
      <p:pic>
        <p:nvPicPr>
          <p:cNvPr id="11" name="Image 1" descr="Software / Apps icon"/>
          <p:cNvPicPr>
            <a:picLocks noChangeAspect="1"/>
          </p:cNvPicPr>
          <p:nvPr/>
        </p:nvPicPr>
        <p:blipFill>
          <a:blip r:embed="rId2"/>
          <a:stretch>
            <a:fillRect/>
          </a:stretch>
        </p:blipFill>
        <p:spPr>
          <a:xfrm>
            <a:off x="3726180" y="4732020"/>
            <a:ext cx="228600" cy="228600"/>
          </a:xfrm>
          <a:prstGeom prst="rect">
            <a:avLst/>
          </a:prstGeom>
        </p:spPr>
      </p:pic>
      <p:sp>
        <p:nvSpPr>
          <p:cNvPr id="12" name="AI / ML / Data card"/>
          <p:cNvSpPr txBox="1"/>
          <p:nvPr/>
        </p:nvSpPr>
        <p:spPr>
          <a:xfrm>
            <a:off x="548640" y="5349240"/>
            <a:ext cx="2651760" cy="822960"/>
          </a:xfrm>
          <a:prstGeom prst="roundRect">
            <a:avLst>
              <a:gd name="adj" fmla="val 8889"/>
            </a:avLst>
          </a:prstGeom>
          <a:solidFill>
            <a:schemeClr val="bg2"/>
          </a:solidFill>
          <a:ln>
            <a:solidFill>
              <a:schemeClr val="bg2"/>
            </a:solidFill>
          </a:ln>
        </p:spPr>
        <p:txBody>
          <a:bodyPr wrap="square" lIns="812800" tIns="50800" rIns="101600" bIns="50800" rtlCol="0" anchor="ctr"/>
          <a:lstStyle/>
          <a:p>
            <a:pPr marL="0" indent="0">
              <a:buNone/>
            </a:pPr>
            <a:r>
              <a:rPr lang="en-US" sz="1600" b="1" dirty="0">
                <a:solidFill>
                  <a:schemeClr val="tx2"/>
                </a:solidFill>
              </a:rPr>
              <a:t>AI / ML / Data</a:t>
            </a:r>
            <a:endParaRPr lang="en-US" sz="1600" dirty="0"/>
          </a:p>
          <a:p>
            <a:pPr marL="0" indent="0">
              <a:buNone/>
            </a:pPr>
            <a:r>
              <a:rPr lang="en-US" sz="1400" dirty="0">
                <a:solidFill>
                  <a:schemeClr val="accent5"/>
                </a:solidFill>
              </a:rPr>
              <a:t>[Models, datasets]</a:t>
            </a:r>
            <a:endParaRPr lang="en-US" sz="1600" dirty="0"/>
          </a:p>
        </p:txBody>
      </p:sp>
      <p:sp>
        <p:nvSpPr>
          <p:cNvPr id="13" name="AI / ML / Data icon circle"/>
          <p:cNvSpPr/>
          <p:nvPr/>
        </p:nvSpPr>
        <p:spPr>
          <a:xfrm>
            <a:off x="685800" y="5532120"/>
            <a:ext cx="457200" cy="457200"/>
          </a:xfrm>
          <a:prstGeom prst="ellipse">
            <a:avLst/>
          </a:prstGeom>
          <a:solidFill>
            <a:schemeClr val="accent1"/>
          </a:solidFill>
          <a:ln w="12700">
            <a:solidFill>
              <a:schemeClr val="accent1"/>
            </a:solidFill>
            <a:prstDash val="solid"/>
          </a:ln>
        </p:spPr>
      </p:sp>
      <p:pic>
        <p:nvPicPr>
          <p:cNvPr id="14" name="Image 2" descr="AI / ML / Data icon"/>
          <p:cNvPicPr>
            <a:picLocks noChangeAspect="1"/>
          </p:cNvPicPr>
          <p:nvPr/>
        </p:nvPicPr>
        <p:blipFill>
          <a:blip r:embed="rId3"/>
          <a:stretch>
            <a:fillRect/>
          </a:stretch>
        </p:blipFill>
        <p:spPr>
          <a:xfrm>
            <a:off x="800100" y="5646420"/>
            <a:ext cx="228600" cy="228600"/>
          </a:xfrm>
          <a:prstGeom prst="rect">
            <a:avLst/>
          </a:prstGeom>
        </p:spPr>
      </p:pic>
      <p:sp>
        <p:nvSpPr>
          <p:cNvPr id="15" name="Cloud / Tools card"/>
          <p:cNvSpPr txBox="1"/>
          <p:nvPr/>
        </p:nvSpPr>
        <p:spPr>
          <a:xfrm>
            <a:off x="3474720" y="5349240"/>
            <a:ext cx="2651760" cy="822960"/>
          </a:xfrm>
          <a:prstGeom prst="roundRect">
            <a:avLst>
              <a:gd name="adj" fmla="val 8889"/>
            </a:avLst>
          </a:prstGeom>
          <a:solidFill>
            <a:schemeClr val="bg2"/>
          </a:solidFill>
          <a:ln>
            <a:solidFill>
              <a:schemeClr val="bg2"/>
            </a:solidFill>
          </a:ln>
        </p:spPr>
        <p:txBody>
          <a:bodyPr wrap="square" lIns="812800" tIns="50800" rIns="101600" bIns="50800" rtlCol="0" anchor="ctr"/>
          <a:lstStyle/>
          <a:p>
            <a:pPr marL="0" indent="0">
              <a:buNone/>
            </a:pPr>
            <a:r>
              <a:rPr lang="en-US" sz="1600" b="1" dirty="0">
                <a:solidFill>
                  <a:schemeClr val="tx2"/>
                </a:solidFill>
              </a:rPr>
              <a:t>Cloud / Tools</a:t>
            </a:r>
            <a:endParaRPr lang="en-US" sz="1600" dirty="0"/>
          </a:p>
          <a:p>
            <a:pPr marL="0" indent="0">
              <a:buNone/>
            </a:pPr>
            <a:r>
              <a:rPr lang="en-US" sz="1400" dirty="0">
                <a:solidFill>
                  <a:schemeClr val="accent5"/>
                </a:solidFill>
              </a:rPr>
              <a:t>[APIs, platforms]</a:t>
            </a:r>
            <a:endParaRPr lang="en-US" sz="1600" dirty="0"/>
          </a:p>
        </p:txBody>
      </p:sp>
      <p:sp>
        <p:nvSpPr>
          <p:cNvPr id="16" name="Cloud / Tools icon circle"/>
          <p:cNvSpPr/>
          <p:nvPr/>
        </p:nvSpPr>
        <p:spPr>
          <a:xfrm>
            <a:off x="3611880" y="5532120"/>
            <a:ext cx="457200" cy="457200"/>
          </a:xfrm>
          <a:prstGeom prst="ellipse">
            <a:avLst/>
          </a:prstGeom>
          <a:solidFill>
            <a:schemeClr val="accent1"/>
          </a:solidFill>
          <a:ln w="12700">
            <a:solidFill>
              <a:schemeClr val="accent1"/>
            </a:solidFill>
            <a:prstDash val="solid"/>
          </a:ln>
        </p:spPr>
      </p:sp>
      <p:pic>
        <p:nvPicPr>
          <p:cNvPr id="17" name="Image 3" descr="Cloud / Tools icon"/>
          <p:cNvPicPr>
            <a:picLocks noChangeAspect="1"/>
          </p:cNvPicPr>
          <p:nvPr/>
        </p:nvPicPr>
        <p:blipFill>
          <a:blip r:embed="rId4"/>
          <a:stretch>
            <a:fillRect/>
          </a:stretch>
        </p:blipFill>
        <p:spPr>
          <a:xfrm>
            <a:off x="3726180" y="5646420"/>
            <a:ext cx="228600" cy="228600"/>
          </a:xfrm>
          <a:prstGeom prst="rect">
            <a:avLst/>
          </a:prstGeom>
        </p:spPr>
      </p:pic>
      <p:sp>
        <p:nvSpPr>
          <p:cNvPr id="18" name="Method step 1"/>
          <p:cNvSpPr txBox="1"/>
          <p:nvPr/>
        </p:nvSpPr>
        <p:spPr>
          <a:xfrm>
            <a:off x="6400800" y="1874520"/>
            <a:ext cx="5239512" cy="914400"/>
          </a:xfrm>
          <a:prstGeom prst="roundRect">
            <a:avLst>
              <a:gd name="adj" fmla="val 8000"/>
            </a:avLst>
          </a:prstGeom>
          <a:solidFill>
            <a:schemeClr val="bg2"/>
          </a:solidFill>
          <a:ln>
            <a:solidFill>
              <a:schemeClr val="bg2"/>
            </a:solidFill>
          </a:ln>
        </p:spPr>
        <p:txBody>
          <a:bodyPr wrap="square" lIns="939800" tIns="76200" rIns="152400" bIns="76200" rtlCol="0" anchor="ctr"/>
          <a:lstStyle/>
          <a:p>
            <a:pPr marL="0" indent="0">
              <a:buNone/>
            </a:pPr>
            <a:r>
              <a:rPr lang="en-US" sz="1600" b="1" dirty="0">
                <a:solidFill>
                  <a:schemeClr val="tx2"/>
                </a:solidFill>
              </a:rPr>
              <a:t>Research and Analysis</a:t>
            </a:r>
            <a:endParaRPr lang="en-US" sz="1600" dirty="0"/>
          </a:p>
          <a:p>
            <a:pPr marL="0" indent="0">
              <a:buNone/>
            </a:pPr>
            <a:r>
              <a:rPr lang="en-US" sz="1400" dirty="0">
                <a:solidFill>
                  <a:schemeClr val="accent5"/>
                </a:solidFill>
              </a:rPr>
              <a:t>[What you study and collect]</a:t>
            </a:r>
            <a:endParaRPr lang="en-US" sz="1600" dirty="0"/>
          </a:p>
        </p:txBody>
      </p:sp>
      <p:sp>
        <p:nvSpPr>
          <p:cNvPr id="19" name="Step number 1"/>
          <p:cNvSpPr txBox="1"/>
          <p:nvPr/>
        </p:nvSpPr>
        <p:spPr>
          <a:xfrm>
            <a:off x="6583680" y="205740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20" name="Method step 2"/>
          <p:cNvSpPr txBox="1"/>
          <p:nvPr/>
        </p:nvSpPr>
        <p:spPr>
          <a:xfrm>
            <a:off x="6400800" y="2971800"/>
            <a:ext cx="5239512" cy="914400"/>
          </a:xfrm>
          <a:prstGeom prst="roundRect">
            <a:avLst>
              <a:gd name="adj" fmla="val 8000"/>
            </a:avLst>
          </a:prstGeom>
          <a:solidFill>
            <a:schemeClr val="bg2"/>
          </a:solidFill>
          <a:ln>
            <a:solidFill>
              <a:schemeClr val="bg2"/>
            </a:solidFill>
          </a:ln>
        </p:spPr>
        <p:txBody>
          <a:bodyPr wrap="square" lIns="939800" tIns="76200" rIns="152400" bIns="76200" rtlCol="0" anchor="ctr"/>
          <a:lstStyle/>
          <a:p>
            <a:pPr marL="0" indent="0">
              <a:buNone/>
            </a:pPr>
            <a:r>
              <a:rPr lang="en-US" sz="1600" b="1" dirty="0">
                <a:solidFill>
                  <a:schemeClr val="tx2"/>
                </a:solidFill>
              </a:rPr>
              <a:t>Design and Architecture</a:t>
            </a:r>
            <a:endParaRPr lang="en-US" sz="1600" dirty="0"/>
          </a:p>
          <a:p>
            <a:pPr marL="0" indent="0">
              <a:buNone/>
            </a:pPr>
            <a:r>
              <a:rPr lang="en-US" sz="1400" dirty="0">
                <a:solidFill>
                  <a:schemeClr val="accent5"/>
                </a:solidFill>
              </a:rPr>
              <a:t>[How the system is planned]</a:t>
            </a:r>
            <a:endParaRPr lang="en-US" sz="1600" dirty="0"/>
          </a:p>
        </p:txBody>
      </p:sp>
      <p:sp>
        <p:nvSpPr>
          <p:cNvPr id="21" name="Step number 2"/>
          <p:cNvSpPr txBox="1"/>
          <p:nvPr/>
        </p:nvSpPr>
        <p:spPr>
          <a:xfrm>
            <a:off x="6583680" y="315468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22" name="Method step 3"/>
          <p:cNvSpPr txBox="1"/>
          <p:nvPr/>
        </p:nvSpPr>
        <p:spPr>
          <a:xfrm>
            <a:off x="6400800" y="4069080"/>
            <a:ext cx="5239512" cy="914400"/>
          </a:xfrm>
          <a:prstGeom prst="roundRect">
            <a:avLst>
              <a:gd name="adj" fmla="val 8000"/>
            </a:avLst>
          </a:prstGeom>
          <a:solidFill>
            <a:schemeClr val="bg2"/>
          </a:solidFill>
          <a:ln>
            <a:solidFill>
              <a:schemeClr val="bg2"/>
            </a:solidFill>
          </a:ln>
        </p:spPr>
        <p:txBody>
          <a:bodyPr wrap="square" lIns="939800" tIns="76200" rIns="152400" bIns="76200" rtlCol="0" anchor="ctr"/>
          <a:lstStyle/>
          <a:p>
            <a:pPr marL="0" indent="0">
              <a:buNone/>
            </a:pPr>
            <a:r>
              <a:rPr lang="en-US" sz="1600" b="1" dirty="0">
                <a:solidFill>
                  <a:schemeClr val="tx2"/>
                </a:solidFill>
              </a:rPr>
              <a:t>Development and Prototype</a:t>
            </a:r>
            <a:endParaRPr lang="en-US" sz="1600" dirty="0"/>
          </a:p>
          <a:p>
            <a:pPr marL="0" indent="0">
              <a:buNone/>
            </a:pPr>
            <a:r>
              <a:rPr lang="en-US" sz="1400" dirty="0">
                <a:solidFill>
                  <a:schemeClr val="accent5"/>
                </a:solidFill>
              </a:rPr>
              <a:t>[What you build and with what]</a:t>
            </a:r>
            <a:endParaRPr lang="en-US" sz="1600" dirty="0"/>
          </a:p>
        </p:txBody>
      </p:sp>
      <p:sp>
        <p:nvSpPr>
          <p:cNvPr id="23" name="Step number 3"/>
          <p:cNvSpPr txBox="1"/>
          <p:nvPr/>
        </p:nvSpPr>
        <p:spPr>
          <a:xfrm>
            <a:off x="6583680" y="42519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4" name="Method step 4"/>
          <p:cNvSpPr txBox="1"/>
          <p:nvPr/>
        </p:nvSpPr>
        <p:spPr>
          <a:xfrm>
            <a:off x="6400800" y="5166360"/>
            <a:ext cx="5239512" cy="914400"/>
          </a:xfrm>
          <a:prstGeom prst="roundRect">
            <a:avLst>
              <a:gd name="adj" fmla="val 8000"/>
            </a:avLst>
          </a:prstGeom>
          <a:solidFill>
            <a:schemeClr val="bg2"/>
          </a:solidFill>
          <a:ln>
            <a:solidFill>
              <a:schemeClr val="bg2"/>
            </a:solidFill>
          </a:ln>
        </p:spPr>
        <p:txBody>
          <a:bodyPr wrap="square" lIns="939800" tIns="76200" rIns="152400" bIns="76200" rtlCol="0" anchor="ctr"/>
          <a:lstStyle/>
          <a:p>
            <a:pPr marL="0" indent="0">
              <a:buNone/>
            </a:pPr>
            <a:r>
              <a:rPr lang="en-US" sz="1600" b="1" dirty="0">
                <a:solidFill>
                  <a:schemeClr val="tx2"/>
                </a:solidFill>
              </a:rPr>
              <a:t>Testing and Deployment</a:t>
            </a:r>
            <a:endParaRPr lang="en-US" sz="1600" dirty="0"/>
          </a:p>
          <a:p>
            <a:pPr marL="0" indent="0">
              <a:buNone/>
            </a:pPr>
            <a:r>
              <a:rPr lang="en-US" sz="1400" dirty="0">
                <a:solidFill>
                  <a:schemeClr val="accent5"/>
                </a:solidFill>
              </a:rPr>
              <a:t>[How you validate and deploy]</a:t>
            </a:r>
            <a:endParaRPr lang="en-US" sz="1600" dirty="0"/>
          </a:p>
        </p:txBody>
      </p:sp>
      <p:sp>
        <p:nvSpPr>
          <p:cNvPr id="25" name="Step number 4"/>
          <p:cNvSpPr txBox="1"/>
          <p:nvPr/>
        </p:nvSpPr>
        <p:spPr>
          <a:xfrm>
            <a:off x="6583680" y="534924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6"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2011680" y="320040"/>
            <a:ext cx="7955280" cy="822960"/>
          </a:xfrm>
          <a:prstGeom prst="rect">
            <a:avLst/>
          </a:prstGeom>
          <a:noFill/>
        </p:spPr>
        <p:txBody>
          <a:bodyPr wrap="square" lIns="0" tIns="0" rIns="0" bIns="0" rtlCol="0" anchor="ctr"/>
          <a:lstStyle/>
          <a:p>
            <a:pPr marL="0" indent="0" algn="ctr">
              <a:buNone/>
            </a:pPr>
            <a:r>
              <a:rPr lang="en-US" sz="3600" b="1" dirty="0">
                <a:solidFill>
                  <a:schemeClr val="tx2"/>
                </a:solidFill>
              </a:rPr>
              <a:t>Impact and Benefits</a:t>
            </a:r>
            <a:endParaRPr lang="en-US" sz="3600" dirty="0"/>
          </a:p>
        </p:txBody>
      </p:sp>
      <p:sp>
        <p:nvSpPr>
          <p:cNvPr id="3" name="Social Impact card"/>
          <p:cNvSpPr txBox="1"/>
          <p:nvPr/>
        </p:nvSpPr>
        <p:spPr>
          <a:xfrm>
            <a:off x="548640" y="1463040"/>
            <a:ext cx="3575304" cy="3017520"/>
          </a:xfrm>
          <a:prstGeom prst="roundRect">
            <a:avLst>
              <a:gd name="adj" fmla="val 2424"/>
            </a:avLst>
          </a:prstGeom>
          <a:solidFill>
            <a:schemeClr val="bg2"/>
          </a:solidFill>
          <a:ln>
            <a:solidFill>
              <a:schemeClr val="bg2"/>
            </a:solidFill>
          </a:ln>
        </p:spPr>
        <p:txBody>
          <a:bodyPr wrap="square" lIns="203200" tIns="1143000" rIns="203200" bIns="101600" rtlCol="0" anchor="t"/>
          <a:lstStyle/>
          <a:p>
            <a:pPr marL="342900" indent="-342900">
              <a:spcAft>
                <a:spcPts val="600"/>
              </a:spcAft>
              <a:buSzPct val="100000"/>
              <a:buChar char="•"/>
            </a:pPr>
            <a:r>
              <a:rPr lang="en-US" sz="1600" dirty="0">
                <a:solidFill>
                  <a:schemeClr val="accent5"/>
                </a:solidFill>
              </a:rPr>
              <a:t>[Who benefits and how]</a:t>
            </a:r>
            <a:endParaRPr lang="en-US" sz="1600" dirty="0"/>
          </a:p>
          <a:p>
            <a:pPr marL="342900" indent="-342900">
              <a:spcAft>
                <a:spcPts val="600"/>
              </a:spcAft>
              <a:buSzPct val="100000"/>
              <a:buChar char="•"/>
            </a:pPr>
            <a:r>
              <a:rPr lang="en-US" sz="1600" dirty="0">
                <a:solidFill>
                  <a:schemeClr val="accent5"/>
                </a:solidFill>
              </a:rPr>
              <a:t>[Measurable outcome]</a:t>
            </a:r>
            <a:endParaRPr lang="en-US" sz="1600" dirty="0"/>
          </a:p>
        </p:txBody>
      </p:sp>
      <p:sp>
        <p:nvSpPr>
          <p:cNvPr id="4" name="Social Impact icon circle"/>
          <p:cNvSpPr/>
          <p:nvPr/>
        </p:nvSpPr>
        <p:spPr>
          <a:xfrm>
            <a:off x="777240" y="1691640"/>
            <a:ext cx="640080" cy="640080"/>
          </a:xfrm>
          <a:prstGeom prst="ellipse">
            <a:avLst/>
          </a:prstGeom>
          <a:solidFill>
            <a:schemeClr val="accent1"/>
          </a:solidFill>
          <a:ln w="12700">
            <a:solidFill>
              <a:schemeClr val="accent1"/>
            </a:solidFill>
            <a:prstDash val="solid"/>
          </a:ln>
        </p:spPr>
      </p:sp>
      <p:pic>
        <p:nvPicPr>
          <p:cNvPr id="5" name="Image 0" descr="Social Impact icon"/>
          <p:cNvPicPr>
            <a:picLocks noChangeAspect="1"/>
          </p:cNvPicPr>
          <p:nvPr/>
        </p:nvPicPr>
        <p:blipFill>
          <a:blip r:embed="rId1"/>
          <a:stretch>
            <a:fillRect/>
          </a:stretch>
        </p:blipFill>
        <p:spPr>
          <a:xfrm>
            <a:off x="941832" y="1856232"/>
            <a:ext cx="310896" cy="310896"/>
          </a:xfrm>
          <a:prstGeom prst="rect">
            <a:avLst/>
          </a:prstGeom>
        </p:spPr>
      </p:pic>
      <p:sp>
        <p:nvSpPr>
          <p:cNvPr id="6" name="Social Impact heading"/>
          <p:cNvSpPr txBox="1"/>
          <p:nvPr/>
        </p:nvSpPr>
        <p:spPr>
          <a:xfrm>
            <a:off x="1554480" y="1691640"/>
            <a:ext cx="2386584" cy="640080"/>
          </a:xfrm>
          <a:prstGeom prst="rect">
            <a:avLst/>
          </a:prstGeom>
          <a:noFill/>
        </p:spPr>
        <p:txBody>
          <a:bodyPr wrap="square" lIns="0" tIns="0" rIns="0" bIns="0" rtlCol="0" anchor="ctr"/>
          <a:lstStyle/>
          <a:p>
            <a:pPr marL="0" indent="0">
              <a:buNone/>
            </a:pPr>
            <a:r>
              <a:rPr lang="en-US" sz="2000" b="1" dirty="0">
                <a:solidFill>
                  <a:schemeClr val="tx2"/>
                </a:solidFill>
              </a:rPr>
              <a:t>Social Impact</a:t>
            </a:r>
            <a:endParaRPr lang="en-US" sz="2000" dirty="0"/>
          </a:p>
        </p:txBody>
      </p:sp>
      <p:sp>
        <p:nvSpPr>
          <p:cNvPr id="7" name="Economic Impact card"/>
          <p:cNvSpPr txBox="1"/>
          <p:nvPr/>
        </p:nvSpPr>
        <p:spPr>
          <a:xfrm>
            <a:off x="4306824" y="1463040"/>
            <a:ext cx="3575304" cy="3017520"/>
          </a:xfrm>
          <a:prstGeom prst="roundRect">
            <a:avLst>
              <a:gd name="adj" fmla="val 2424"/>
            </a:avLst>
          </a:prstGeom>
          <a:solidFill>
            <a:schemeClr val="bg2"/>
          </a:solidFill>
          <a:ln>
            <a:solidFill>
              <a:schemeClr val="bg2"/>
            </a:solidFill>
          </a:ln>
        </p:spPr>
        <p:txBody>
          <a:bodyPr wrap="square" lIns="203200" tIns="1143000" rIns="203200" bIns="101600" rtlCol="0" anchor="t"/>
          <a:lstStyle/>
          <a:p>
            <a:pPr marL="342900" indent="-342900">
              <a:spcAft>
                <a:spcPts val="600"/>
              </a:spcAft>
              <a:buSzPct val="100000"/>
              <a:buChar char="•"/>
            </a:pPr>
            <a:r>
              <a:rPr lang="en-US" sz="1600" dirty="0">
                <a:solidFill>
                  <a:schemeClr val="accent5"/>
                </a:solidFill>
              </a:rPr>
              <a:t>[Cost saving or income gain]</a:t>
            </a:r>
            <a:endParaRPr lang="en-US" sz="1600" dirty="0"/>
          </a:p>
          <a:p>
            <a:pPr marL="342900" indent="-342900">
              <a:spcAft>
                <a:spcPts val="600"/>
              </a:spcAft>
              <a:buSzPct val="100000"/>
              <a:buChar char="•"/>
            </a:pPr>
            <a:r>
              <a:rPr lang="en-US" sz="1600" dirty="0">
                <a:solidFill>
                  <a:schemeClr val="accent5"/>
                </a:solidFill>
              </a:rPr>
              <a:t>[Measurable outcome]</a:t>
            </a:r>
            <a:endParaRPr lang="en-US" sz="1600" dirty="0"/>
          </a:p>
        </p:txBody>
      </p:sp>
      <p:sp>
        <p:nvSpPr>
          <p:cNvPr id="8" name="Economic Impact icon circle"/>
          <p:cNvSpPr/>
          <p:nvPr/>
        </p:nvSpPr>
        <p:spPr>
          <a:xfrm>
            <a:off x="4535424" y="1691640"/>
            <a:ext cx="640080" cy="640080"/>
          </a:xfrm>
          <a:prstGeom prst="ellipse">
            <a:avLst/>
          </a:prstGeom>
          <a:solidFill>
            <a:schemeClr val="accent1"/>
          </a:solidFill>
          <a:ln w="12700">
            <a:solidFill>
              <a:schemeClr val="accent1"/>
            </a:solidFill>
            <a:prstDash val="solid"/>
          </a:ln>
        </p:spPr>
      </p:sp>
      <p:pic>
        <p:nvPicPr>
          <p:cNvPr id="9" name="Image 1" descr="Economic Impact icon"/>
          <p:cNvPicPr>
            <a:picLocks noChangeAspect="1"/>
          </p:cNvPicPr>
          <p:nvPr/>
        </p:nvPicPr>
        <p:blipFill>
          <a:blip r:embed="rId2"/>
          <a:stretch>
            <a:fillRect/>
          </a:stretch>
        </p:blipFill>
        <p:spPr>
          <a:xfrm>
            <a:off x="4700016" y="1856232"/>
            <a:ext cx="310896" cy="310896"/>
          </a:xfrm>
          <a:prstGeom prst="rect">
            <a:avLst/>
          </a:prstGeom>
        </p:spPr>
      </p:pic>
      <p:sp>
        <p:nvSpPr>
          <p:cNvPr id="10" name="Economic Impact heading"/>
          <p:cNvSpPr txBox="1"/>
          <p:nvPr/>
        </p:nvSpPr>
        <p:spPr>
          <a:xfrm>
            <a:off x="5312664" y="1691640"/>
            <a:ext cx="2386584" cy="640080"/>
          </a:xfrm>
          <a:prstGeom prst="rect">
            <a:avLst/>
          </a:prstGeom>
          <a:noFill/>
        </p:spPr>
        <p:txBody>
          <a:bodyPr wrap="square" lIns="0" tIns="0" rIns="0" bIns="0" rtlCol="0" anchor="ctr"/>
          <a:lstStyle/>
          <a:p>
            <a:pPr marL="0" indent="0">
              <a:buNone/>
            </a:pPr>
            <a:r>
              <a:rPr lang="en-US" sz="2000" b="1" dirty="0">
                <a:solidFill>
                  <a:schemeClr val="tx2"/>
                </a:solidFill>
              </a:rPr>
              <a:t>Economic Impact</a:t>
            </a:r>
            <a:endParaRPr lang="en-US" sz="2000" dirty="0"/>
          </a:p>
        </p:txBody>
      </p:sp>
      <p:sp>
        <p:nvSpPr>
          <p:cNvPr id="11" name="Environmental Impact card"/>
          <p:cNvSpPr txBox="1"/>
          <p:nvPr/>
        </p:nvSpPr>
        <p:spPr>
          <a:xfrm>
            <a:off x="8065008" y="1463040"/>
            <a:ext cx="3575304" cy="3017520"/>
          </a:xfrm>
          <a:prstGeom prst="roundRect">
            <a:avLst>
              <a:gd name="adj" fmla="val 2424"/>
            </a:avLst>
          </a:prstGeom>
          <a:solidFill>
            <a:schemeClr val="bg2"/>
          </a:solidFill>
          <a:ln>
            <a:solidFill>
              <a:schemeClr val="bg2"/>
            </a:solidFill>
          </a:ln>
        </p:spPr>
        <p:txBody>
          <a:bodyPr wrap="square" lIns="203200" tIns="1143000" rIns="203200" bIns="101600" rtlCol="0" anchor="t"/>
          <a:lstStyle/>
          <a:p>
            <a:pPr marL="342900" indent="-342900">
              <a:spcAft>
                <a:spcPts val="600"/>
              </a:spcAft>
              <a:buSzPct val="100000"/>
              <a:buChar char="•"/>
            </a:pPr>
            <a:r>
              <a:rPr lang="en-US" sz="1600" dirty="0">
                <a:solidFill>
                  <a:schemeClr val="accent5"/>
                </a:solidFill>
              </a:rPr>
              <a:t>[Resource or waste reduction]</a:t>
            </a:r>
            <a:endParaRPr lang="en-US" sz="1600" dirty="0"/>
          </a:p>
          <a:p>
            <a:pPr marL="342900" indent="-342900">
              <a:spcAft>
                <a:spcPts val="600"/>
              </a:spcAft>
              <a:buSzPct val="100000"/>
              <a:buChar char="•"/>
            </a:pPr>
            <a:r>
              <a:rPr lang="en-US" sz="1600" dirty="0">
                <a:solidFill>
                  <a:schemeClr val="accent5"/>
                </a:solidFill>
              </a:rPr>
              <a:t>[Measurable outcome]</a:t>
            </a:r>
            <a:endParaRPr lang="en-US" sz="1600" dirty="0"/>
          </a:p>
        </p:txBody>
      </p:sp>
      <p:sp>
        <p:nvSpPr>
          <p:cNvPr id="12" name="Environmental Impact icon circle"/>
          <p:cNvSpPr/>
          <p:nvPr/>
        </p:nvSpPr>
        <p:spPr>
          <a:xfrm>
            <a:off x="8293608" y="1691640"/>
            <a:ext cx="640080" cy="640080"/>
          </a:xfrm>
          <a:prstGeom prst="ellipse">
            <a:avLst/>
          </a:prstGeom>
          <a:solidFill>
            <a:schemeClr val="accent1"/>
          </a:solidFill>
          <a:ln w="12700">
            <a:solidFill>
              <a:schemeClr val="accent1"/>
            </a:solidFill>
            <a:prstDash val="solid"/>
          </a:ln>
        </p:spPr>
      </p:sp>
      <p:pic>
        <p:nvPicPr>
          <p:cNvPr id="13" name="Image 2" descr="Environmental Impact icon"/>
          <p:cNvPicPr>
            <a:picLocks noChangeAspect="1"/>
          </p:cNvPicPr>
          <p:nvPr/>
        </p:nvPicPr>
        <p:blipFill>
          <a:blip r:embed="rId3"/>
          <a:stretch>
            <a:fillRect/>
          </a:stretch>
        </p:blipFill>
        <p:spPr>
          <a:xfrm>
            <a:off x="8458200" y="1856232"/>
            <a:ext cx="310896" cy="310896"/>
          </a:xfrm>
          <a:prstGeom prst="rect">
            <a:avLst/>
          </a:prstGeom>
        </p:spPr>
      </p:pic>
      <p:sp>
        <p:nvSpPr>
          <p:cNvPr id="14" name="Environmental Impact heading"/>
          <p:cNvSpPr txBox="1"/>
          <p:nvPr/>
        </p:nvSpPr>
        <p:spPr>
          <a:xfrm>
            <a:off x="9070848" y="1691640"/>
            <a:ext cx="2386584" cy="640080"/>
          </a:xfrm>
          <a:prstGeom prst="rect">
            <a:avLst/>
          </a:prstGeom>
          <a:noFill/>
        </p:spPr>
        <p:txBody>
          <a:bodyPr wrap="square" lIns="0" tIns="0" rIns="0" bIns="0" rtlCol="0" anchor="ctr"/>
          <a:lstStyle/>
          <a:p>
            <a:pPr marL="0" indent="0">
              <a:buNone/>
            </a:pPr>
            <a:r>
              <a:rPr lang="en-US" sz="2000" b="1" dirty="0">
                <a:solidFill>
                  <a:schemeClr val="tx2"/>
                </a:solidFill>
              </a:rPr>
              <a:t>Environmental Impact</a:t>
            </a:r>
            <a:endParaRPr lang="en-US" sz="2000" dirty="0"/>
          </a:p>
        </p:txBody>
      </p:sp>
      <p:sp>
        <p:nvSpPr>
          <p:cNvPr id="15" name="Key benefits"/>
          <p:cNvSpPr txBox="1"/>
          <p:nvPr/>
        </p:nvSpPr>
        <p:spPr>
          <a:xfrm>
            <a:off x="548640" y="4663440"/>
            <a:ext cx="5458968" cy="1554480"/>
          </a:xfrm>
          <a:prstGeom prst="roundRect">
            <a:avLst>
              <a:gd name="adj" fmla="val 4706"/>
            </a:avLst>
          </a:prstGeom>
          <a:solidFill>
            <a:schemeClr val="bg2"/>
          </a:solidFill>
          <a:ln>
            <a:solidFill>
              <a:schemeClr val="bg2"/>
            </a:solidFill>
          </a:ln>
        </p:spPr>
        <p:txBody>
          <a:bodyPr wrap="square" lIns="203200" tIns="127000" rIns="203200" bIns="127000" rtlCol="0" anchor="t"/>
          <a:lstStyle/>
          <a:p>
            <a:pPr marL="0" indent="0">
              <a:spcAft>
                <a:spcPts val="600"/>
              </a:spcAft>
              <a:buNone/>
            </a:pPr>
            <a:r>
              <a:rPr lang="en-US" sz="1800" b="1" dirty="0">
                <a:solidFill>
                  <a:schemeClr val="accent1"/>
                </a:solidFill>
              </a:rPr>
              <a:t>Key Benefits and Advantages</a:t>
            </a:r>
            <a:endParaRPr lang="en-US" sz="1800" dirty="0"/>
          </a:p>
          <a:p>
            <a:pPr marL="342900" indent="-342900">
              <a:spcAft>
                <a:spcPts val="600"/>
              </a:spcAft>
              <a:buSzPct val="100000"/>
              <a:buChar char="•"/>
            </a:pPr>
            <a:r>
              <a:rPr lang="en-US" sz="1400" dirty="0">
                <a:solidFill>
                  <a:schemeClr val="tx1"/>
                </a:solidFill>
              </a:rPr>
              <a:t>[Main advantages over existing solutions]</a:t>
            </a:r>
            <a:endParaRPr lang="en-US" sz="1800" dirty="0"/>
          </a:p>
          <a:p>
            <a:pPr marL="342900" indent="-342900">
              <a:spcAft>
                <a:spcPts val="600"/>
              </a:spcAft>
              <a:buSzPct val="100000"/>
              <a:buChar char="•"/>
            </a:pPr>
            <a:r>
              <a:rPr lang="en-US" sz="1400" dirty="0">
                <a:solidFill>
                  <a:schemeClr val="tx1"/>
                </a:solidFill>
              </a:rPr>
              <a:t>[Who gains the most]</a:t>
            </a:r>
            <a:endParaRPr lang="en-US" sz="1800" dirty="0"/>
          </a:p>
        </p:txBody>
      </p:sp>
      <p:sp>
        <p:nvSpPr>
          <p:cNvPr id="16" name="Scalability"/>
          <p:cNvSpPr txBox="1"/>
          <p:nvPr/>
        </p:nvSpPr>
        <p:spPr>
          <a:xfrm>
            <a:off x="6181344" y="4663440"/>
            <a:ext cx="5458968" cy="1554480"/>
          </a:xfrm>
          <a:prstGeom prst="roundRect">
            <a:avLst>
              <a:gd name="adj" fmla="val 4706"/>
            </a:avLst>
          </a:prstGeom>
          <a:solidFill>
            <a:schemeClr val="bg2"/>
          </a:solidFill>
          <a:ln>
            <a:solidFill>
              <a:schemeClr val="bg2"/>
            </a:solidFill>
          </a:ln>
        </p:spPr>
        <p:txBody>
          <a:bodyPr wrap="square" lIns="203200" tIns="127000" rIns="203200" bIns="127000" rtlCol="0" anchor="t"/>
          <a:lstStyle/>
          <a:p>
            <a:pPr marL="0" indent="0">
              <a:spcAft>
                <a:spcPts val="600"/>
              </a:spcAft>
              <a:buNone/>
            </a:pPr>
            <a:r>
              <a:rPr lang="en-US" sz="1800" b="1" dirty="0">
                <a:solidFill>
                  <a:schemeClr val="accent1"/>
                </a:solidFill>
              </a:rPr>
              <a:t>Scalability and Future Scope</a:t>
            </a:r>
            <a:endParaRPr lang="en-US" sz="1800" dirty="0"/>
          </a:p>
          <a:p>
            <a:pPr marL="342900" indent="-342900">
              <a:spcAft>
                <a:spcPts val="600"/>
              </a:spcAft>
              <a:buSzPct val="100000"/>
              <a:buChar char="•"/>
            </a:pPr>
            <a:r>
              <a:rPr lang="en-US" sz="1400" dirty="0">
                <a:solidFill>
                  <a:schemeClr val="tx1"/>
                </a:solidFill>
              </a:rPr>
              <a:t>[How it can grow to more farms or regions]</a:t>
            </a:r>
            <a:endParaRPr lang="en-US" sz="1800" dirty="0"/>
          </a:p>
          <a:p>
            <a:pPr marL="342900" indent="-342900">
              <a:spcAft>
                <a:spcPts val="600"/>
              </a:spcAft>
              <a:buSzPct val="100000"/>
              <a:buChar char="•"/>
            </a:pPr>
            <a:r>
              <a:rPr lang="en-US" sz="1400" dirty="0">
                <a:solidFill>
                  <a:schemeClr val="tx1"/>
                </a:solidFill>
              </a:rPr>
              <a:t>[Next steps after the hackathon]</a:t>
            </a:r>
            <a:endParaRPr lang="en-US" sz="1800" dirty="0"/>
          </a:p>
        </p:txBody>
      </p:sp>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548640" y="1828800"/>
            <a:ext cx="11091672" cy="914400"/>
          </a:xfrm>
          <a:prstGeom prst="rect">
            <a:avLst/>
          </a:prstGeom>
          <a:noFill/>
        </p:spPr>
        <p:txBody>
          <a:bodyPr wrap="square" lIns="0" tIns="0" rIns="0" bIns="0" rtlCol="0" anchor="ctr"/>
          <a:lstStyle/>
          <a:p>
            <a:pPr marL="0" indent="0" algn="ctr">
              <a:buNone/>
            </a:pPr>
            <a:r>
              <a:rPr lang="en-US" sz="5400" b="1" dirty="0">
                <a:solidFill>
                  <a:schemeClr val="tx2"/>
                </a:solidFill>
              </a:rPr>
              <a:t>Thank You</a:t>
            </a:r>
            <a:endParaRPr lang="en-US" sz="5400" dirty="0"/>
          </a:p>
        </p:txBody>
      </p:sp>
      <p:sp>
        <p:nvSpPr>
          <p:cNvPr id="3" name="College name"/>
          <p:cNvSpPr txBox="1"/>
          <p:nvPr/>
        </p:nvSpPr>
        <p:spPr>
          <a:xfrm>
            <a:off x="548640" y="2788920"/>
            <a:ext cx="11091672" cy="411480"/>
          </a:xfrm>
          <a:prstGeom prst="rect">
            <a:avLst/>
          </a:prstGeom>
          <a:noFill/>
        </p:spPr>
        <p:txBody>
          <a:bodyPr wrap="square" lIns="0" tIns="0" rIns="0" bIns="0" rtlCol="0" anchor="ctr"/>
          <a:lstStyle/>
          <a:p>
            <a:pPr marL="0" indent="0" algn="ctr">
              <a:buNone/>
            </a:pPr>
            <a:r>
              <a:rPr lang="en-US" sz="2200" b="1" dirty="0">
                <a:solidFill>
                  <a:schemeClr val="tx1"/>
                </a:solidFill>
              </a:rPr>
              <a:t>G. Madegowda Institute of Technology (GMIT), Mandya</a:t>
            </a:r>
            <a:endParaRPr lang="en-US" sz="2200" dirty="0"/>
          </a:p>
        </p:txBody>
      </p:sp>
      <p:sp>
        <p:nvSpPr>
          <p:cNvPr id="4" name="Event line"/>
          <p:cNvSpPr txBox="1"/>
          <p:nvPr/>
        </p:nvSpPr>
        <p:spPr>
          <a:xfrm>
            <a:off x="548640" y="3246120"/>
            <a:ext cx="11091672" cy="365760"/>
          </a:xfrm>
          <a:prstGeom prst="rect">
            <a:avLst/>
          </a:prstGeom>
          <a:noFill/>
        </p:spPr>
        <p:txBody>
          <a:bodyPr wrap="square" lIns="0" tIns="0" rIns="0" bIns="0" rtlCol="0" anchor="ctr"/>
          <a:lstStyle/>
          <a:p>
            <a:pPr marL="0" indent="0" algn="ctr">
              <a:buNone/>
            </a:pPr>
            <a:r>
              <a:rPr lang="en-US" sz="1600" dirty="0">
                <a:solidFill>
                  <a:schemeClr val="accent1"/>
                </a:solidFill>
              </a:rPr>
              <a:t>LEAP Agritech Hackathon 2026  |  2-3 November 2026  |  Kuvempu Sabhangana, GMIT, Mandya</a:t>
            </a:r>
            <a:endParaRPr lang="en-US" sz="1600" dirty="0"/>
          </a:p>
        </p:txBody>
      </p:sp>
      <p:sp>
        <p:nvSpPr>
          <p:cNvPr id="5" name="Team contact"/>
          <p:cNvSpPr txBox="1"/>
          <p:nvPr/>
        </p:nvSpPr>
        <p:spPr>
          <a:xfrm>
            <a:off x="548640" y="3931920"/>
            <a:ext cx="5458968" cy="2286000"/>
          </a:xfrm>
          <a:prstGeom prst="roundRect">
            <a:avLst>
              <a:gd name="adj" fmla="val 3200"/>
            </a:avLst>
          </a:prstGeom>
          <a:solidFill>
            <a:schemeClr val="bg2"/>
          </a:solidFill>
          <a:ln>
            <a:solidFill>
              <a:schemeClr val="bg2"/>
            </a:solidFill>
          </a:ln>
        </p:spPr>
        <p:txBody>
          <a:bodyPr wrap="square" lIns="203200" tIns="127000" rIns="203200" bIns="127000" rtlCol="0" anchor="t"/>
          <a:lstStyle/>
          <a:p>
            <a:pPr marL="0" indent="0">
              <a:spcAft>
                <a:spcPts val="600"/>
              </a:spcAft>
              <a:buNone/>
            </a:pPr>
            <a:r>
              <a:rPr lang="en-US" sz="1800" b="1" dirty="0">
                <a:solidFill>
                  <a:schemeClr val="accent1"/>
                </a:solidFill>
              </a:rPr>
              <a:t>Team Contact</a:t>
            </a:r>
            <a:endParaRPr lang="en-US" sz="1800" dirty="0"/>
          </a:p>
          <a:p>
            <a:pPr marL="342900" indent="-342900">
              <a:spcAft>
                <a:spcPts val="600"/>
              </a:spcAft>
              <a:buSzPct val="100000"/>
              <a:buChar char="•"/>
            </a:pPr>
            <a:r>
              <a:rPr lang="en-US" sz="1600" dirty="0">
                <a:solidFill>
                  <a:schemeClr val="tx1"/>
                </a:solidFill>
              </a:rPr>
              <a:t>Team Name: [Enter team name]</a:t>
            </a:r>
            <a:endParaRPr lang="en-US" sz="1800" dirty="0"/>
          </a:p>
          <a:p>
            <a:pPr marL="342900" indent="-342900">
              <a:spcAft>
                <a:spcPts val="600"/>
              </a:spcAft>
              <a:buSzPct val="100000"/>
              <a:buChar char="•"/>
            </a:pPr>
            <a:r>
              <a:rPr lang="en-US" sz="1600" dirty="0">
                <a:solidFill>
                  <a:schemeClr val="tx1"/>
                </a:solidFill>
              </a:rPr>
              <a:t>Team Leader: [Name]</a:t>
            </a:r>
            <a:endParaRPr lang="en-US" sz="1800" dirty="0"/>
          </a:p>
          <a:p>
            <a:pPr marL="342900" indent="-342900">
              <a:spcAft>
                <a:spcPts val="600"/>
              </a:spcAft>
              <a:buSzPct val="100000"/>
              <a:buChar char="•"/>
            </a:pPr>
            <a:r>
              <a:rPr lang="en-US" sz="1600" dirty="0">
                <a:solidFill>
                  <a:schemeClr val="tx1"/>
                </a:solidFill>
              </a:rPr>
              <a:t>Phone: [Mobile number]</a:t>
            </a:r>
            <a:endParaRPr lang="en-US" sz="1800" dirty="0"/>
          </a:p>
          <a:p>
            <a:pPr marL="342900" indent="-342900">
              <a:spcAft>
                <a:spcPts val="600"/>
              </a:spcAft>
              <a:buSzPct val="100000"/>
              <a:buChar char="•"/>
            </a:pPr>
            <a:r>
              <a:rPr lang="en-US" sz="1600" dirty="0">
                <a:solidFill>
                  <a:schemeClr val="tx1"/>
                </a:solidFill>
              </a:rPr>
              <a:t>Email: [Email address]</a:t>
            </a:r>
            <a:endParaRPr lang="en-US" sz="1800" dirty="0"/>
          </a:p>
        </p:txBody>
      </p:sp>
      <p:sp>
        <p:nvSpPr>
          <p:cNvPr id="6" name="Hackathon contact"/>
          <p:cNvSpPr txBox="1"/>
          <p:nvPr/>
        </p:nvSpPr>
        <p:spPr>
          <a:xfrm>
            <a:off x="6181344" y="3931920"/>
            <a:ext cx="5458968" cy="2286000"/>
          </a:xfrm>
          <a:prstGeom prst="roundRect">
            <a:avLst>
              <a:gd name="adj" fmla="val 3200"/>
            </a:avLst>
          </a:prstGeom>
          <a:solidFill>
            <a:schemeClr val="bg2"/>
          </a:solidFill>
          <a:ln>
            <a:solidFill>
              <a:schemeClr val="bg2"/>
            </a:solidFill>
          </a:ln>
        </p:spPr>
        <p:txBody>
          <a:bodyPr wrap="square" lIns="203200" tIns="127000" rIns="203200" bIns="127000" rtlCol="0" anchor="t"/>
          <a:lstStyle/>
          <a:p>
            <a:pPr marL="0" indent="0">
              <a:spcAft>
                <a:spcPts val="600"/>
              </a:spcAft>
              <a:buNone/>
            </a:pPr>
            <a:r>
              <a:rPr lang="en-US" sz="1800" b="1" dirty="0">
                <a:solidFill>
                  <a:schemeClr val="accent1"/>
                </a:solidFill>
              </a:rPr>
              <a:t>Hackathon Helpdesk</a:t>
            </a:r>
            <a:endParaRPr lang="en-US" sz="1800" dirty="0"/>
          </a:p>
          <a:p>
            <a:pPr marL="342900" indent="-342900">
              <a:spcAft>
                <a:spcPts val="600"/>
              </a:spcAft>
              <a:buSzPct val="100000"/>
              <a:buChar char="•"/>
            </a:pPr>
            <a:r>
              <a:rPr lang="en-US" sz="1600" dirty="0">
                <a:solidFill>
                  <a:schemeClr val="tx1"/>
                </a:solidFill>
              </a:rPr>
              <a:t>Prof. Ravi Kumar K N: 91645 45670</a:t>
            </a:r>
            <a:endParaRPr lang="en-US" sz="1800" dirty="0"/>
          </a:p>
          <a:p>
            <a:pPr marL="342900" indent="-342900">
              <a:spcAft>
                <a:spcPts val="600"/>
              </a:spcAft>
              <a:buSzPct val="100000"/>
              <a:buChar char="•"/>
            </a:pPr>
            <a:r>
              <a:rPr lang="en-US" sz="1600" dirty="0">
                <a:solidFill>
                  <a:schemeClr val="tx1"/>
                </a:solidFill>
              </a:rPr>
              <a:t>Prof. Thanuja K: 88846 55002</a:t>
            </a:r>
            <a:endParaRPr lang="en-US" sz="1800" dirty="0"/>
          </a:p>
          <a:p>
            <a:pPr marL="342900" indent="-342900">
              <a:spcAft>
                <a:spcPts val="600"/>
              </a:spcAft>
              <a:buSzPct val="100000"/>
              <a:buChar char="•"/>
            </a:pPr>
            <a:r>
              <a:rPr lang="en-US" sz="1600" dirty="0">
                <a:solidFill>
                  <a:schemeClr val="tx1"/>
                </a:solidFill>
              </a:rPr>
              <a:t>Sinchana H G: 80886 34023</a:t>
            </a:r>
            <a:endParaRPr lang="en-US" sz="1800" dirty="0"/>
          </a:p>
          <a:p>
            <a:pPr marL="342900" indent="-342900">
              <a:spcAft>
                <a:spcPts val="600"/>
              </a:spcAft>
              <a:buSzPct val="100000"/>
              <a:buChar char="•"/>
            </a:pPr>
            <a:r>
              <a:rPr lang="en-US" sz="1600" dirty="0">
                <a:solidFill>
                  <a:schemeClr val="tx1"/>
                </a:solidFill>
              </a:rPr>
              <a:t>Varshashree Reddy K: 77607 42137</a:t>
            </a:r>
            <a:endParaRPr lang="en-US" sz="1800" dirty="0"/>
          </a:p>
        </p:txBody>
      </p:sp>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LEAP Agritech Light">
  <a:themeElements>
    <a:clrScheme name="LEAP Agritech Light">
      <a:dk1>
        <a:srgbClr val="1A2238"/>
      </a:dk1>
      <a:lt1>
        <a:srgbClr val="FFFFFF"/>
      </a:lt1>
      <a:dk2>
        <a:srgbClr val="0F2A5C"/>
      </a:dk2>
      <a:lt2>
        <a:srgbClr val="EEF3F0"/>
      </a:lt2>
      <a:accent1>
        <a:srgbClr val="1F7A3A"/>
      </a:accent1>
      <a:accent2>
        <a:srgbClr val="0F2A5C"/>
      </a:accent2>
      <a:accent3>
        <a:srgbClr val="7CC242"/>
      </a:accent3>
      <a:accent4>
        <a:srgbClr val="F2B01E"/>
      </a:accent4>
      <a:accent5>
        <a:srgbClr val="5B6472"/>
      </a:accent5>
      <a:accent6>
        <a:srgbClr val="2A9D8F"/>
      </a:accent6>
      <a:hlink>
        <a:srgbClr val="0F2A5C"/>
      </a:hlink>
      <a:folHlink>
        <a:srgbClr val="5B6472"/>
      </a:folHlink>
    </a:clrScheme>
    <a:fontScheme name="LEAP Agritech L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EAP Agritech Light">
  <a:themeElements>
    <a:clrScheme name="LEAP Agritech Light">
      <a:dk1>
        <a:srgbClr val="1A2238"/>
      </a:dk1>
      <a:lt1>
        <a:srgbClr val="FFFFFF"/>
      </a:lt1>
      <a:dk2>
        <a:srgbClr val="0F2A5C"/>
      </a:dk2>
      <a:lt2>
        <a:srgbClr val="EEF3F0"/>
      </a:lt2>
      <a:accent1>
        <a:srgbClr val="1F7A3A"/>
      </a:accent1>
      <a:accent2>
        <a:srgbClr val="0F2A5C"/>
      </a:accent2>
      <a:accent3>
        <a:srgbClr val="7CC242"/>
      </a:accent3>
      <a:accent4>
        <a:srgbClr val="F2B01E"/>
      </a:accent4>
      <a:accent5>
        <a:srgbClr val="5B6472"/>
      </a:accent5>
      <a:accent6>
        <a:srgbClr val="2A9D8F"/>
      </a:accent6>
      <a:hlink>
        <a:srgbClr val="0F2A5C"/>
      </a:hlink>
      <a:folHlink>
        <a:srgbClr val="5B6472"/>
      </a:folHlink>
    </a:clrScheme>
    <a:fontScheme name="LEAP Agritech L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2730</Words>
  <Application>WPS Presentation</Application>
  <PresentationFormat>On-screen Show (16:9)</PresentationFormat>
  <Paragraphs>196</Paragraphs>
  <Slides>7</Slides>
  <Notes>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Arial</vt:lpstr>
      <vt:lpstr>SimSun</vt:lpstr>
      <vt:lpstr>Wingdings</vt:lpstr>
      <vt:lpstr>Calibri</vt:lpstr>
      <vt:lpstr>Microsoft YaHei</vt:lpstr>
      <vt:lpstr>Arial Unicode MS</vt:lpstr>
      <vt:lpstr>LEAP Agritech Light</vt:lpstr>
      <vt:lpstr>LEAP AGRITECH HACKATHON 2026</vt:lpstr>
      <vt:lpstr>Problem Statement</vt:lpstr>
      <vt:lpstr>Existing Solutions</vt:lpstr>
      <vt:lpstr>Our Solution</vt:lpstr>
      <vt:lpstr>Technical Approach</vt:lpstr>
      <vt:lpstr>Impact and Benefits</vt:lpstr>
      <vt:lpstr>Thank You</vt:lpstr>
    </vt:vector>
  </TitlesOfParts>
  <Company>G. Madegowda Institute of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LEAP Agritech Hackathon 2026 - Round 1 Presentation Template</dc:title>
  <dc:creator>GMIT, Mandya</dc:creator>
  <dc:subject>Round 1 - Idea Presentation template</dc:subject>
  <cp:lastModifiedBy>Nithin Kumar</cp:lastModifiedBy>
  <cp:revision>2</cp:revision>
  <dcterms:created xsi:type="dcterms:W3CDTF">2026-10-27T02:58:00Z</dcterms:created>
  <dcterms:modified xsi:type="dcterms:W3CDTF">2026-10-27T03:23:11Z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71952579B8994938BB136E802D88F972_12</vt:lpwstr>
  </property>
  <property fmtid="{D5CDD505-2E9C-101B-9397-08002B2CF9AE}" pid="3" name="KSOProductBuildVer">
    <vt:lpwstr>1033-12.1.0.28485</vt:lpwstr>
  </property>
</Properties>
</file>