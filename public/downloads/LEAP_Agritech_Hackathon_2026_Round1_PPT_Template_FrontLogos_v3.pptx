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0166577b-9d4e-d59b-e313-219e6d2cb20d}">
          <p14:sldIdLst>
            <p14:sldId id="256"/>
          </p14:sldIdLst>
        </p14:section>
        <p14:section name="Presentation" id="{ed2c70da-5309-e942-d10f-46a3651745d1}">
          <p14:sldIdLst>
            <p14:sldId id="257"/>
            <p14:sldId id="258"/>
            <p14:sldId id="259"/>
            <p14:sldId id="260"/>
            <p14:sldId id="261"/>
          </p14:sldIdLst>
        </p14:section>
        <p14:section name="Closing" id="{8b827af6-095f-e8ff-87ca-6997fef17833}">
          <p14:sldIdLst>
            <p14:sldId id="26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team details table. Do not change the logos, the hackathon name or the layout. Keep the presentation to 7 slides (including this one) with a maximum of 3 content-heavy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in simple words. Use real data with a source. Replace the guidance text in each box with your own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2-3 existing solutions you studied. Be honest about their limitations. The research gap leads into your solution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is the idea round. Explain your idea clearly and in simple words. A working prototype is not required now, you will build it during the 24 hours of the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your solution will work technically: add an architecture diagram, flowchart or prototype sketch, name the exact tools you will use, and explain the order in which you will build the prototype during the 24 hours of the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numbers wherever possible, for example percentage savings or number of farmers who can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your team contact details. The helpdesk contacts are the faculty and student coordinators of the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AP Content">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c21caaec-5dfa-5601-ad61-38301e23ceb7/scratchpad/assets/gmit_logo.png"/>
          <p:cNvPicPr>
            <a:picLocks noChangeAspect="1"/>
          </p:cNvPicPr>
          <p:nvPr/>
        </p:nvPicPr>
        <p:blipFill>
          <a:blip r:embed="rId2"/>
          <a:stretch>
            <a:fillRect/>
          </a:stretch>
        </p:blipFill>
        <p:spPr>
          <a:xfrm>
            <a:off x="548640" y="274320"/>
            <a:ext cx="1160502" cy="868680"/>
          </a:xfrm>
          <a:prstGeom prst="rect">
            <a:avLst/>
          </a:prstGeom>
        </p:spPr>
      </p:pic>
      <p:pic>
        <p:nvPicPr>
          <p:cNvPr id="3" name="Image 1" descr="LEAP Agritech Hackathon 2026 logo"/>
          <p:cNvPicPr>
            <a:picLocks noChangeAspect="1"/>
          </p:cNvPicPr>
          <p:nvPr/>
        </p:nvPicPr>
        <p:blipFill>
          <a:blip r:embed="rId3"/>
          <a:stretch>
            <a:fillRect/>
          </a:stretch>
        </p:blipFill>
        <p:spPr>
          <a:xfrm>
            <a:off x="10164607" y="274320"/>
            <a:ext cx="1475704" cy="1005840"/>
          </a:xfrm>
          <a:prstGeom prst="rect">
            <a:avLst/>
          </a:prstGeom>
        </p:spPr>
      </p:pic>
      <p:sp>
        <p:nvSpPr>
          <p:cNvPr id="4" name="Text 0"/>
          <p:cNvSpPr/>
          <p:nvPr>
            <p:ph type="title" idx="102" hasCustomPrompt="1"/>
          </p:nvPr>
        </p:nvSpPr>
        <p:spPr>
          <a:xfrm>
            <a:off x="2011680" y="320040"/>
            <a:ext cx="7955280" cy="822960"/>
          </a:xfrm>
          <a:prstGeom prst="rect">
            <a:avLst/>
          </a:prstGeom>
          <a:noFill/>
        </p:spPr>
        <p:txBody>
          <a:bodyPr wrap="square" rtlCol="0"/>
          <a:lstStyle>
            <a:lvl1pPr marL="0" indent="0" algn="ctr">
              <a:buNone/>
              <a:defRPr lang="en-US" sz="3600" b="1" dirty="0">
                <a:solidFill>
                  <a:schemeClr val="tx2"/>
                </a:solidFill>
              </a:defRPr>
            </a:lvl1pPr>
          </a:lstStyle>
          <a:p>
            <a:pPr marL="0" indent="0" algn="ctr">
              <a:buNone/>
            </a:pPr>
            <a:endParaRPr lang="en-US" sz="3600" dirty="0"/>
          </a:p>
        </p:txBody>
      </p:sp>
      <p:sp>
        <p:nvSpPr>
          <p:cNvPr id="5" name="Text 0"/>
          <p:cNvSpPr/>
          <p:nvPr/>
        </p:nvSpPr>
        <p:spPr>
          <a:xfrm>
            <a:off x="548640" y="6400800"/>
            <a:ext cx="8686800" cy="274320"/>
          </a:xfrm>
          <a:prstGeom prst="rect">
            <a:avLst/>
          </a:prstGeom>
          <a:noFill/>
        </p:spPr>
        <p:txBody>
          <a:bodyPr wrap="square" lIns="0" tIns="0" rIns="0" bIns="0" rtlCol="0" anchor="ctr"/>
          <a:lstStyle/>
          <a:p>
            <a:pPr marL="0" indent="0">
              <a:buNone/>
            </a:pPr>
            <a:r>
              <a:rPr lang="en-US" sz="1200" dirty="0">
                <a:solidFill>
                  <a:schemeClr val="accent5"/>
                </a:solidFill>
              </a:rPr>
              <a:t>LEAP Agritech Hackathon 2026  |  G. Madegowda Institute of Technology, Mandya</a:t>
            </a:r>
            <a:endParaRPr lang="en-US" sz="12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AP Title">
    <p:bg>
      <p:bgPr>
        <a:solidFill>
          <a:srgbClr val="FFFFFF"/>
        </a:solidFill>
        <a:effectLst/>
      </p:bgPr>
    </p:bg>
    <p:spTree>
      <p:nvGrpSpPr>
        <p:cNvPr id="1" name=""/>
        <p:cNvGrpSpPr/>
        <p:nvPr/>
      </p:nvGrpSpPr>
      <p:grpSpPr>
        <a:xfrm>
          <a:off x="0" y="0"/>
          <a:ext cx="0" cy="0"/>
          <a:chOff x="0" y="0"/>
          <a:chExt cx="0" cy="0"/>
        </a:xfrm>
      </p:grpSpPr>
      <p:sp>
        <p:nvSpPr>
          <p:cNvPr id="4" name="Text 0"/>
          <p:cNvSpPr/>
          <p:nvPr>
            <p:ph type="title" idx="102" hasCustomPrompt="1"/>
          </p:nvPr>
        </p:nvSpPr>
        <p:spPr>
          <a:xfrm>
            <a:off x="548640" y="1920240"/>
            <a:ext cx="11091672" cy="731520"/>
          </a:xfrm>
          <a:prstGeom prst="rect">
            <a:avLst/>
          </a:prstGeom>
          <a:noFill/>
        </p:spPr>
        <p:txBody>
          <a:bodyPr wrap="square" rtlCol="0"/>
          <a:lstStyle>
            <a:lvl1pPr marL="0" indent="0" algn="ctr">
              <a:buNone/>
              <a:defRPr lang="en-US" sz="4000" b="1" dirty="0">
                <a:solidFill>
                  <a:schemeClr val="tx2"/>
                </a:solidFill>
              </a:defRPr>
            </a:lvl1pPr>
          </a:lstStyle>
          <a:p>
            <a:pPr marL="0" indent="0" algn="ctr">
              <a:buNone/>
            </a:pPr>
            <a:endParaRPr lang="en-US" sz="4000" dirty="0"/>
          </a:p>
        </p:txBody>
      </p:sp>
      <p:sp>
        <p:nvSpPr>
          <p:cNvPr id="5" name="Text 0"/>
          <p:cNvSpPr/>
          <p:nvPr/>
        </p:nvSpPr>
        <p:spPr>
          <a:xfrm>
            <a:off x="548640" y="6400800"/>
            <a:ext cx="8686800" cy="274320"/>
          </a:xfrm>
          <a:prstGeom prst="rect">
            <a:avLst/>
          </a:prstGeom>
          <a:noFill/>
        </p:spPr>
        <p:txBody>
          <a:bodyPr wrap="square" lIns="0" tIns="0" rIns="0" bIns="0" rtlCol="0" anchor="ctr"/>
          <a:lstStyle/>
          <a:p>
            <a:pPr marL="0" indent="0">
              <a:buNone/>
            </a:pPr>
            <a:r>
              <a:rPr lang="en-US" sz="1200" dirty="0">
                <a:solidFill>
                  <a:schemeClr val="accent5"/>
                </a:solidFill>
              </a:rPr>
              <a:t>LEAP Agritech Hackathon 2026  |  G. Madegowda Institute of Technology, Mandya</a:t>
            </a:r>
            <a:endParaRPr lang="en-US" sz="12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P Closing">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c21caaec-5dfa-5601-ad61-38301e23ceb7/scratchpad/assets/gmit_logo.png"/>
          <p:cNvPicPr>
            <a:picLocks noChangeAspect="1"/>
          </p:cNvPicPr>
          <p:nvPr/>
        </p:nvPicPr>
        <p:blipFill>
          <a:blip r:embed="rId2"/>
          <a:stretch>
            <a:fillRect/>
          </a:stretch>
        </p:blipFill>
        <p:spPr>
          <a:xfrm>
            <a:off x="548640" y="320040"/>
            <a:ext cx="1832372" cy="1371600"/>
          </a:xfrm>
          <a:prstGeom prst="rect">
            <a:avLst/>
          </a:prstGeom>
        </p:spPr>
      </p:pic>
      <p:pic>
        <p:nvPicPr>
          <p:cNvPr id="3" name="Image 1" descr="LEAP Agritech Hackathon 2026 logo"/>
          <p:cNvPicPr>
            <a:picLocks noChangeAspect="1"/>
          </p:cNvPicPr>
          <p:nvPr/>
        </p:nvPicPr>
        <p:blipFill>
          <a:blip r:embed="rId3"/>
          <a:stretch>
            <a:fillRect/>
          </a:stretch>
        </p:blipFill>
        <p:spPr>
          <a:xfrm>
            <a:off x="9627988" y="320040"/>
            <a:ext cx="2012323" cy="1371600"/>
          </a:xfrm>
          <a:prstGeom prst="rect">
            <a:avLst/>
          </a:prstGeom>
        </p:spPr>
      </p:pic>
      <p:sp>
        <p:nvSpPr>
          <p:cNvPr id="4" name="Text 0"/>
          <p:cNvSpPr/>
          <p:nvPr>
            <p:ph type="title" idx="102" hasCustomPrompt="1"/>
          </p:nvPr>
        </p:nvSpPr>
        <p:spPr>
          <a:xfrm>
            <a:off x="548640" y="1828800"/>
            <a:ext cx="11091672" cy="914400"/>
          </a:xfrm>
          <a:prstGeom prst="rect">
            <a:avLst/>
          </a:prstGeom>
          <a:noFill/>
        </p:spPr>
        <p:txBody>
          <a:bodyPr wrap="square" rtlCol="0"/>
          <a:lstStyle>
            <a:lvl1pPr marL="0" indent="0" algn="ctr">
              <a:buNone/>
              <a:defRPr lang="en-US" sz="5400" b="1" dirty="0">
                <a:solidFill>
                  <a:schemeClr val="tx2"/>
                </a:solidFill>
              </a:defRPr>
            </a:lvl1pPr>
          </a:lstStyle>
          <a:p>
            <a:pPr marL="0" indent="0" algn="ctr">
              <a:buNone/>
            </a:pPr>
            <a:endParaRPr lang="en-US" sz="5400" dirty="0"/>
          </a:p>
        </p:txBody>
      </p:sp>
      <p:sp>
        <p:nvSpPr>
          <p:cNvPr id="5" name="Text 0"/>
          <p:cNvSpPr/>
          <p:nvPr/>
        </p:nvSpPr>
        <p:spPr>
          <a:xfrm>
            <a:off x="548640" y="6400800"/>
            <a:ext cx="8686800" cy="274320"/>
          </a:xfrm>
          <a:prstGeom prst="rect">
            <a:avLst/>
          </a:prstGeom>
          <a:noFill/>
        </p:spPr>
        <p:txBody>
          <a:bodyPr wrap="square" lIns="0" tIns="0" rIns="0" bIns="0" rtlCol="0" anchor="ctr"/>
          <a:lstStyle/>
          <a:p>
            <a:pPr marL="0" indent="0">
              <a:buNone/>
            </a:pPr>
            <a:r>
              <a:rPr lang="en-US" sz="1200" dirty="0">
                <a:solidFill>
                  <a:schemeClr val="accent5"/>
                </a:solidFill>
              </a:rPr>
              <a:t>LEAP Agritech Hackathon 2026  |  G. Madegowda Institute of Technology, Mandya</a:t>
            </a:r>
            <a:endParaRPr lang="en-US" sz="12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548640" y="1920240"/>
            <a:ext cx="11091672" cy="731520"/>
          </a:xfrm>
          <a:prstGeom prst="rect">
            <a:avLst/>
          </a:prstGeom>
          <a:noFill/>
        </p:spPr>
        <p:txBody>
          <a:bodyPr wrap="square" lIns="0" tIns="0" rIns="0" bIns="0" rtlCol="0" anchor="ctr"/>
          <a:lstStyle/>
          <a:p>
            <a:pPr marL="0" indent="0" algn="ctr">
              <a:buNone/>
            </a:pPr>
            <a:r>
              <a:rPr lang="en-US" sz="4000" b="1" dirty="0">
                <a:solidFill>
                  <a:schemeClr val="tx2"/>
                </a:solidFill>
              </a:rPr>
              <a:t>LEAP AGRITECH HACKATHON 2026</a:t>
            </a:r>
            <a:endParaRPr lang="en-US" sz="4000" dirty="0"/>
          </a:p>
        </p:txBody>
      </p:sp>
      <p:sp>
        <p:nvSpPr>
          <p:cNvPr id="3" name="Subtitle"/>
          <p:cNvSpPr txBox="1"/>
          <p:nvPr/>
        </p:nvSpPr>
        <p:spPr>
          <a:xfrm>
            <a:off x="548640" y="2651760"/>
            <a:ext cx="11091672" cy="457200"/>
          </a:xfrm>
          <a:prstGeom prst="rect">
            <a:avLst/>
          </a:prstGeom>
          <a:noFill/>
        </p:spPr>
        <p:txBody>
          <a:bodyPr wrap="square" lIns="0" tIns="0" rIns="0" bIns="0" rtlCol="0" anchor="ctr"/>
          <a:lstStyle/>
          <a:p>
            <a:pPr marL="0" indent="0" algn="ctr">
              <a:buNone/>
            </a:pPr>
            <a:r>
              <a:rPr lang="en-US" sz="2400" b="1" dirty="0">
                <a:solidFill>
                  <a:schemeClr val="accent1"/>
                </a:solidFill>
              </a:rPr>
              <a:t>Round 1  |  Idea Presentation</a:t>
            </a:r>
            <a:endParaRPr lang="en-US" sz="2400" dirty="0"/>
          </a:p>
        </p:txBody>
      </p:sp>
      <p:sp>
        <p:nvSpPr>
          <p:cNvPr id="4" name="College name"/>
          <p:cNvSpPr txBox="1"/>
          <p:nvPr/>
        </p:nvSpPr>
        <p:spPr>
          <a:xfrm>
            <a:off x="548640" y="3154680"/>
            <a:ext cx="11091672" cy="365760"/>
          </a:xfrm>
          <a:prstGeom prst="rect">
            <a:avLst/>
          </a:prstGeom>
          <a:noFill/>
        </p:spPr>
        <p:txBody>
          <a:bodyPr wrap="square" lIns="0" tIns="0" rIns="0" bIns="0" rtlCol="0" anchor="ctr"/>
          <a:lstStyle/>
          <a:p>
            <a:pPr marL="0" indent="0" algn="ctr">
              <a:buNone/>
            </a:pPr>
            <a:r>
              <a:rPr lang="en-US" sz="2800" b="1" dirty="0">
                <a:solidFill>
                  <a:schemeClr val="tx1"/>
                </a:solidFill>
              </a:rPr>
              <a:t>G. Madegowda Institute of Technology (GMIT), Mandya</a:t>
            </a:r>
            <a:endParaRPr lang="en-US" sz="2800" b="1" dirty="0"/>
          </a:p>
        </p:txBody>
      </p:sp>
      <p:graphicFrame>
        <p:nvGraphicFramePr>
          <p:cNvPr id="5" name="Team details table"/>
          <p:cNvGraphicFramePr>
            <a:graphicFrameLocks noGrp="1"/>
          </p:cNvGraphicFramePr>
          <p:nvPr/>
        </p:nvGraphicFramePr>
        <p:xfrm>
          <a:off x="548640" y="3703320"/>
          <a:ext cx="11091672" cy="2468880"/>
        </p:xfrm>
        <a:graphic>
          <a:graphicData uri="http://schemas.openxmlformats.org/drawingml/2006/table">
            <a:tbl>
              <a:tblPr/>
              <a:tblGrid>
                <a:gridCol w="3291840"/>
                <a:gridCol w="7799832"/>
              </a:tblGrid>
              <a:tr h="411480">
                <a:tc>
                  <a:txBody>
                    <a:bodyPr/>
                    <a:lstStyle/>
                    <a:p>
                      <a:pPr marL="0" indent="0">
                        <a:buNone/>
                      </a:pPr>
                      <a:r>
                        <a:rPr lang="en-US" sz="1600" b="1" dirty="0">
                          <a:solidFill>
                            <a:schemeClr val="tx2"/>
                          </a:solidFill>
                        </a:rPr>
                        <a:t>Problem Statement Title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[Enter your problem statement title]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Theme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tx1"/>
                          </a:solidFill>
                        </a:rPr>
                        <a:t>Agriculture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Team Name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[Enter your team name]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Team Leader</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[Name of the team leader]</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Team Members (up to 3)</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[Names of all team members]</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r h="411480">
                <a:tc>
                  <a:txBody>
                    <a:bodyPr/>
                    <a:lstStyle/>
                    <a:p>
                      <a:pPr marL="0" indent="0">
                        <a:buNone/>
                      </a:pPr>
                      <a:r>
                        <a:rPr lang="en-US" sz="1600" b="1" dirty="0">
                          <a:solidFill>
                            <a:schemeClr val="tx2"/>
                          </a:solidFill>
                        </a:rPr>
                        <a:t>College / Institution</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[Enter your college name]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pic>
        <p:nvPicPr>
          <p:cNvPr id="26" name="Front logo gmit" descr="G Madegowda Institute of Technology logo"/>
          <p:cNvPicPr>
            <a:picLocks noChangeAspect="1"/>
          </p:cNvPicPr>
          <p:nvPr/>
        </p:nvPicPr>
        <p:blipFill>
          <a:blip r:embed="rId1"/>
          <a:stretch>
            <a:fillRect/>
          </a:stretch>
        </p:blipFill>
        <p:spPr>
          <a:xfrm>
            <a:off x="680542" y="228600"/>
            <a:ext cx="1954530" cy="1463040"/>
          </a:xfrm>
          <a:prstGeom prst="rect">
            <a:avLst/>
          </a:prstGeom>
        </p:spPr>
      </p:pic>
      <p:pic>
        <p:nvPicPr>
          <p:cNvPr id="27" name="Front logo ktech" descr="K-tech Karnataka Innovation and Technology Society logo"/>
          <p:cNvPicPr>
            <a:picLocks noChangeAspect="1"/>
          </p:cNvPicPr>
          <p:nvPr/>
        </p:nvPicPr>
        <p:blipFill>
          <a:blip r:embed="rId2"/>
          <a:stretch>
            <a:fillRect/>
          </a:stretch>
        </p:blipFill>
        <p:spPr>
          <a:xfrm>
            <a:off x="3144621" y="228600"/>
            <a:ext cx="1463040" cy="1463040"/>
          </a:xfrm>
          <a:prstGeom prst="rect">
            <a:avLst/>
          </a:prstGeom>
        </p:spPr>
      </p:pic>
      <p:pic>
        <p:nvPicPr>
          <p:cNvPr id="28" name="Front logo itbt" descr="Government of Karnataka Dept of Electronics IT and BT logo"/>
          <p:cNvPicPr>
            <a:picLocks noChangeAspect="1"/>
          </p:cNvPicPr>
          <p:nvPr/>
        </p:nvPicPr>
        <p:blipFill>
          <a:blip r:embed="rId3"/>
          <a:stretch>
            <a:fillRect/>
          </a:stretch>
        </p:blipFill>
        <p:spPr>
          <a:xfrm>
            <a:off x="5276691" y="228600"/>
            <a:ext cx="1635568" cy="1463040"/>
          </a:xfrm>
          <a:prstGeom prst="rect">
            <a:avLst/>
          </a:prstGeom>
        </p:spPr>
      </p:pic>
      <p:pic>
        <p:nvPicPr>
          <p:cNvPr id="29" name="Front logo leap" descr="LEAP logo"/>
          <p:cNvPicPr>
            <a:picLocks noChangeAspect="1"/>
          </p:cNvPicPr>
          <p:nvPr/>
        </p:nvPicPr>
        <p:blipFill>
          <a:blip r:embed="rId4"/>
          <a:stretch>
            <a:fillRect/>
          </a:stretch>
        </p:blipFill>
        <p:spPr>
          <a:xfrm>
            <a:off x="7818980" y="228599"/>
            <a:ext cx="987660" cy="1463040"/>
          </a:xfrm>
          <a:prstGeom prst="rect">
            <a:avLst/>
          </a:prstGeom>
        </p:spPr>
      </p:pic>
      <p:pic>
        <p:nvPicPr>
          <p:cNvPr id="30" name="Front logo hackathon" descr="LEAP Agritech Hackathon 2026 logo"/>
          <p:cNvPicPr>
            <a:picLocks noChangeAspect="1"/>
          </p:cNvPicPr>
          <p:nvPr/>
        </p:nvPicPr>
        <p:blipFill>
          <a:blip r:embed="rId5"/>
          <a:stretch>
            <a:fillRect/>
          </a:stretch>
        </p:blipFill>
        <p:spPr>
          <a:xfrm>
            <a:off x="9536277" y="282623"/>
            <a:ext cx="1989734" cy="13549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Problem Statement</a:t>
            </a:r>
            <a:endParaRPr lang="en-US" sz="3600" dirty="0"/>
          </a:p>
        </p:txBody>
      </p:sp>
      <p:sp>
        <p:nvSpPr>
          <p:cNvPr id="3" name="Problem description"/>
          <p:cNvSpPr txBox="1"/>
          <p:nvPr/>
        </p:nvSpPr>
        <p:spPr>
          <a:xfrm>
            <a:off x="548640" y="1303020"/>
            <a:ext cx="6949440" cy="1793875"/>
          </a:xfrm>
          <a:prstGeom prst="roundRect">
            <a:avLst>
              <a:gd name="adj" fmla="val 1538"/>
            </a:avLst>
          </a:prstGeom>
          <a:solidFill>
            <a:schemeClr val="bg2"/>
          </a:solidFill>
          <a:ln>
            <a:solidFill>
              <a:schemeClr val="bg2"/>
            </a:solidFill>
          </a:ln>
        </p:spPr>
        <p:txBody>
          <a:bodyPr wrap="square" lIns="203200" tIns="152400" rIns="203200" bIns="127000" rtlCol="0" anchor="t"/>
          <a:lstStyle/>
          <a:p>
            <a:pPr marL="0" indent="0">
              <a:lnSpc>
                <a:spcPct val="100000"/>
              </a:lnSpc>
              <a:spcAft>
                <a:spcPts val="600"/>
              </a:spcAft>
              <a:buNone/>
            </a:pPr>
            <a:r>
              <a:rPr lang="en-US" sz="1800" b="1" dirty="0">
                <a:solidFill>
                  <a:schemeClr val="accent1"/>
                </a:solidFill>
              </a:rPr>
              <a:t>Problem Description</a:t>
            </a:r>
            <a:endParaRPr lang="en-US" sz="1800" dirty="0"/>
          </a:p>
          <a:p>
            <a:pPr marL="342900" indent="-342900">
              <a:lnSpc>
                <a:spcPct val="100000"/>
              </a:lnSpc>
              <a:spcAft>
                <a:spcPts val="600"/>
              </a:spcAft>
              <a:buSzPct val="100000"/>
              <a:buChar char="•"/>
            </a:pPr>
            <a:r>
              <a:rPr lang="en-US" sz="1600" dirty="0">
                <a:solidFill>
                  <a:schemeClr val="tx1"/>
                </a:solidFill>
              </a:rPr>
              <a:t>Describe the problem .</a:t>
            </a:r>
            <a:endParaRPr lang="en-US" sz="1800" dirty="0"/>
          </a:p>
          <a:p>
            <a:pPr marL="342900" indent="-342900">
              <a:lnSpc>
                <a:spcPct val="100000"/>
              </a:lnSpc>
              <a:spcAft>
                <a:spcPts val="600"/>
              </a:spcAft>
              <a:buSzPct val="100000"/>
              <a:buChar char="•"/>
            </a:pPr>
            <a:r>
              <a:rPr lang="en-US" sz="1600" dirty="0">
                <a:solidFill>
                  <a:schemeClr val="tx1"/>
                </a:solidFill>
              </a:rPr>
              <a:t>Where and how does this problem occur in agriculture?</a:t>
            </a:r>
            <a:endParaRPr lang="en-US" sz="1800" dirty="0"/>
          </a:p>
          <a:p>
            <a:pPr marL="342900" indent="-342900">
              <a:lnSpc>
                <a:spcPct val="100000"/>
              </a:lnSpc>
              <a:spcAft>
                <a:spcPts val="600"/>
              </a:spcAft>
              <a:buSzPct val="100000"/>
              <a:buChar char="•"/>
            </a:pPr>
            <a:r>
              <a:rPr lang="en-US" sz="1600" dirty="0">
                <a:solidFill>
                  <a:schemeClr val="tx1"/>
                </a:solidFill>
              </a:rPr>
              <a:t>What is the current impact on farmers or the food chain?</a:t>
            </a:r>
            <a:endParaRPr lang="en-US" sz="1800" dirty="0"/>
          </a:p>
          <a:p>
            <a:pPr marL="342900" indent="-342900">
              <a:lnSpc>
                <a:spcPct val="100000"/>
              </a:lnSpc>
              <a:spcAft>
                <a:spcPts val="600"/>
              </a:spcAft>
              <a:buSzPct val="100000"/>
              <a:buChar char="•"/>
            </a:pPr>
            <a:r>
              <a:rPr lang="en-US" sz="1600" dirty="0">
                <a:solidFill>
                  <a:schemeClr val="tx1"/>
                </a:solidFill>
              </a:rPr>
              <a:t>Why is it important to solve this problem now?</a:t>
            </a:r>
            <a:endParaRPr lang="en-US" sz="1800" dirty="0"/>
          </a:p>
        </p:txBody>
      </p:sp>
      <p:sp>
        <p:nvSpPr>
          <p:cNvPr id="4" name="Who is affected"/>
          <p:cNvSpPr txBox="1"/>
          <p:nvPr/>
        </p:nvSpPr>
        <p:spPr>
          <a:xfrm>
            <a:off x="539750" y="3256915"/>
            <a:ext cx="6992620" cy="1402715"/>
          </a:xfrm>
          <a:prstGeom prst="roundRect">
            <a:avLst>
              <a:gd name="adj" fmla="val 3200"/>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Who Is Affected</a:t>
            </a:r>
            <a:endParaRPr lang="en-US" sz="1800" dirty="0"/>
          </a:p>
          <a:p>
            <a:pPr marL="342900" indent="-342900">
              <a:spcAft>
                <a:spcPts val="600"/>
              </a:spcAft>
              <a:buSzPct val="100000"/>
              <a:buChar char="•"/>
            </a:pPr>
            <a:r>
              <a:rPr lang="en-US" sz="1600" dirty="0">
                <a:solidFill>
                  <a:schemeClr val="tx1"/>
                </a:solidFill>
              </a:rPr>
              <a:t>Farmers, consumers or other stakeholders.</a:t>
            </a:r>
            <a:endParaRPr lang="en-US" sz="1800" dirty="0"/>
          </a:p>
          <a:p>
            <a:pPr marL="342900" indent="-342900">
              <a:spcAft>
                <a:spcPts val="600"/>
              </a:spcAft>
              <a:buSzPct val="100000"/>
              <a:buChar char="•"/>
            </a:pPr>
            <a:r>
              <a:rPr lang="en-US" sz="1600" dirty="0">
                <a:solidFill>
                  <a:schemeClr val="tx1"/>
                </a:solidFill>
              </a:rPr>
              <a:t>Size of the affected group or region.</a:t>
            </a:r>
            <a:endParaRPr lang="en-US" sz="1800" dirty="0"/>
          </a:p>
        </p:txBody>
      </p:sp>
      <p:sp>
        <p:nvSpPr>
          <p:cNvPr id="5" name="Evidence and data"/>
          <p:cNvSpPr txBox="1"/>
          <p:nvPr/>
        </p:nvSpPr>
        <p:spPr>
          <a:xfrm>
            <a:off x="510540" y="4831715"/>
            <a:ext cx="6988175" cy="1289050"/>
          </a:xfrm>
          <a:prstGeom prst="roundRect">
            <a:avLst>
              <a:gd name="adj" fmla="val 3200"/>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Evidence and Data</a:t>
            </a:r>
            <a:endParaRPr lang="en-US" sz="1800" dirty="0"/>
          </a:p>
          <a:p>
            <a:pPr marL="342900" indent="-342900">
              <a:spcAft>
                <a:spcPts val="600"/>
              </a:spcAft>
              <a:buSzPct val="100000"/>
              <a:buChar char="•"/>
            </a:pPr>
            <a:r>
              <a:rPr lang="en-US" sz="1600" dirty="0">
                <a:solidFill>
                  <a:schemeClr val="tx1"/>
                </a:solidFill>
              </a:rPr>
              <a:t>Key statistics or facts.</a:t>
            </a:r>
            <a:endParaRPr lang="en-US" sz="1800" dirty="0"/>
          </a:p>
          <a:p>
            <a:pPr marL="342900" indent="-342900">
              <a:spcAft>
                <a:spcPts val="600"/>
              </a:spcAft>
              <a:buSzPct val="100000"/>
              <a:buChar char="•"/>
            </a:pPr>
            <a:r>
              <a:rPr lang="en-US" sz="1600" dirty="0">
                <a:solidFill>
                  <a:schemeClr val="tx1"/>
                </a:solidFill>
              </a:rPr>
              <a:t>Source or reference link.</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Existing Solutions</a:t>
            </a:r>
            <a:endParaRPr lang="en-US" sz="3600" dirty="0"/>
          </a:p>
        </p:txBody>
      </p:sp>
      <p:graphicFrame>
        <p:nvGraphicFramePr>
          <p:cNvPr id="4" name="Existing solutions table"/>
          <p:cNvGraphicFramePr>
            <a:graphicFrameLocks noGrp="1"/>
          </p:cNvGraphicFramePr>
          <p:nvPr/>
        </p:nvGraphicFramePr>
        <p:xfrm>
          <a:off x="548640" y="1463040"/>
          <a:ext cx="11091672" cy="3063240"/>
        </p:xfrm>
        <a:graphic>
          <a:graphicData uri="http://schemas.openxmlformats.org/drawingml/2006/table">
            <a:tbl>
              <a:tblPr/>
              <a:tblGrid>
                <a:gridCol w="731520"/>
                <a:gridCol w="3200400"/>
                <a:gridCol w="3566160"/>
                <a:gridCol w="3593592"/>
              </a:tblGrid>
              <a:tr h="457200">
                <a:tc>
                  <a:txBody>
                    <a:bodyPr/>
                    <a:lstStyle/>
                    <a:p>
                      <a:pPr marL="0" indent="0">
                        <a:buNone/>
                      </a:pPr>
                      <a:r>
                        <a:rPr lang="en-US" sz="1600" b="1" dirty="0">
                          <a:solidFill>
                            <a:schemeClr val="bg1"/>
                          </a:solidFill>
                        </a:rPr>
                        <a: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Existing Solution / Product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How It Works</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accent2"/>
                    </a:solidFill>
                  </a:tcPr>
                </a:tc>
                <a:tc>
                  <a:txBody>
                    <a:bodyPr/>
                    <a:lstStyle/>
                    <a:p>
                      <a:pPr marL="0" indent="0">
                        <a:buNone/>
                      </a:pPr>
                      <a:r>
                        <a:rPr lang="en-US" sz="1600" b="1" dirty="0">
                          <a:solidFill>
                            <a:schemeClr val="bg1"/>
                          </a:solidFill>
                        </a:rPr>
                        <a:t>Limitations / Gaps</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accent2"/>
                    </a:solidFill>
                  </a:tcPr>
                </a:tc>
              </a:tr>
              <a:tr h="868680">
                <a:tc>
                  <a:txBody>
                    <a:bodyPr/>
                    <a:lstStyle/>
                    <a:p>
                      <a:pPr marL="0" indent="0" algn="ctr">
                        <a:buNone/>
                      </a:pPr>
                      <a:r>
                        <a:rPr lang="en-US" sz="1600" b="1" dirty="0">
                          <a:solidFill>
                            <a:schemeClr val="tx2"/>
                          </a:solidFill>
                        </a:rPr>
                        <a:t>1</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[Name of existing solution]</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[Brief working principle]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[Why it falls short]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r>
              <a:tr h="868680">
                <a:tc>
                  <a:txBody>
                    <a:bodyPr/>
                    <a:lstStyle/>
                    <a:p>
                      <a:pPr marL="0" indent="0" algn="ctr">
                        <a:buNone/>
                      </a:pPr>
                      <a:r>
                        <a:rPr lang="en-US" sz="1600" b="1" dirty="0">
                          <a:solidFill>
                            <a:schemeClr val="tx2"/>
                          </a:solidFill>
                        </a:rPr>
                        <a:t>2</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[Name of existing solution]</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[Brief working principle]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c>
                  <a:txBody>
                    <a:bodyPr/>
                    <a:lstStyle/>
                    <a:p>
                      <a:pPr marL="0" indent="0">
                        <a:buNone/>
                      </a:pPr>
                      <a:r>
                        <a:rPr lang="en-US" sz="1600" dirty="0">
                          <a:solidFill>
                            <a:schemeClr val="accent5"/>
                          </a:solidFill>
                        </a:rPr>
                        <a:t>[Why it falls short]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2"/>
                    </a:solidFill>
                  </a:tcPr>
                </a:tc>
              </a:tr>
              <a:tr h="868680">
                <a:tc>
                  <a:txBody>
                    <a:bodyPr/>
                    <a:lstStyle/>
                    <a:p>
                      <a:pPr marL="0" indent="0" algn="ctr">
                        <a:buNone/>
                      </a:pPr>
                      <a:r>
                        <a:rPr lang="en-US" sz="1600" b="1" dirty="0">
                          <a:solidFill>
                            <a:schemeClr val="tx2"/>
                          </a:solidFill>
                        </a:rPr>
                        <a:t>3</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[Name of existing solution]</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[Brief working principle]</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c>
                  <a:txBody>
                    <a:bodyPr/>
                    <a:lstStyle/>
                    <a:p>
                      <a:pPr marL="0" indent="0">
                        <a:buNone/>
                      </a:pPr>
                      <a:r>
                        <a:rPr lang="en-US" sz="1600" dirty="0">
                          <a:solidFill>
                            <a:schemeClr val="accent5"/>
                          </a:solidFill>
                        </a:rPr>
                        <a:t>[Why it falls short]</a:t>
                      </a:r>
                      <a:endParaRPr lang="en-US" sz="1600" dirty="0"/>
                    </a:p>
                  </a:txBody>
                  <a:tcPr marL="137160" marR="137160" marT="36576" marB="36576" anchor="ctr">
                    <a:lnL w="12700" cap="flat" cmpd="sng" algn="ctr">
                      <a:solidFill>
                        <a:srgbClr val="D3DCD7"/>
                      </a:solidFill>
                      <a:prstDash val="solid"/>
                      <a:round/>
                      <a:headEnd type="none" w="med" len="med"/>
                      <a:tailEnd type="none" w="med" len="med"/>
                    </a:lnL>
                    <a:lnR w="12700" cap="flat" cmpd="sng" algn="ctr">
                      <a:solidFill>
                        <a:srgbClr val="D3DCD7"/>
                      </a:solidFill>
                      <a:prstDash val="solid"/>
                      <a:round/>
                      <a:headEnd type="none" w="med" len="med"/>
                      <a:tailEnd type="none" w="med" len="med"/>
                    </a:lnR>
                    <a:lnT w="12700" cap="flat" cmpd="sng" algn="ctr">
                      <a:solidFill>
                        <a:srgbClr val="D3DCD7"/>
                      </a:solidFill>
                      <a:prstDash val="solid"/>
                      <a:round/>
                      <a:headEnd type="none" w="med" len="med"/>
                      <a:tailEnd type="none" w="med" len="med"/>
                    </a:lnT>
                    <a:lnB w="12700" cap="flat" cmpd="sng" algn="ctr">
                      <a:solidFill>
                        <a:srgbClr val="D3DCD7"/>
                      </a:solidFill>
                      <a:prstDash val="solid"/>
                      <a:round/>
                      <a:headEnd type="none" w="med" len="med"/>
                      <a:tailEnd type="none" w="med" len="med"/>
                    </a:lnB>
                    <a:solidFill>
                      <a:schemeClr val="bg1"/>
                    </a:solidFill>
                  </a:tcPr>
                </a:tc>
              </a:tr>
            </a:tbl>
          </a:graphicData>
        </a:graphic>
      </p:graphicFrame>
      <p:sp>
        <p:nvSpPr>
          <p:cNvPr id="3" name="Research gap"/>
          <p:cNvSpPr txBox="1"/>
          <p:nvPr/>
        </p:nvSpPr>
        <p:spPr>
          <a:xfrm>
            <a:off x="548640" y="4846320"/>
            <a:ext cx="11091672" cy="1371600"/>
          </a:xfrm>
          <a:prstGeom prst="roundRect">
            <a:avLst>
              <a:gd name="adj" fmla="val 5333"/>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Research Gap Identified</a:t>
            </a:r>
            <a:endParaRPr lang="en-US" sz="1800" dirty="0"/>
          </a:p>
          <a:p>
            <a:pPr marL="342900" indent="-342900">
              <a:spcAft>
                <a:spcPts val="600"/>
              </a:spcAft>
              <a:buSzPct val="100000"/>
              <a:buChar char="•"/>
            </a:pPr>
            <a:r>
              <a:rPr lang="en-US" sz="1600" dirty="0">
                <a:solidFill>
                  <a:schemeClr val="tx1"/>
                </a:solidFill>
              </a:rPr>
              <a:t>In one or two lines, state what is still missing in current solutions.</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Our Solution</a:t>
            </a:r>
            <a:endParaRPr lang="en-US" sz="3600" dirty="0"/>
          </a:p>
        </p:txBody>
      </p:sp>
      <p:sp>
        <p:nvSpPr>
          <p:cNvPr id="3" name="Proposed solution"/>
          <p:cNvSpPr txBox="1"/>
          <p:nvPr/>
        </p:nvSpPr>
        <p:spPr>
          <a:xfrm>
            <a:off x="548640" y="1303020"/>
            <a:ext cx="6949440" cy="1753235"/>
          </a:xfrm>
          <a:prstGeom prst="roundRect">
            <a:avLst>
              <a:gd name="adj" fmla="val 1538"/>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Proposed Solution</a:t>
            </a:r>
            <a:endParaRPr lang="en-US" sz="1800" dirty="0"/>
          </a:p>
          <a:p>
            <a:pPr marL="342900" indent="-342900">
              <a:spcAft>
                <a:spcPts val="600"/>
              </a:spcAft>
              <a:buSzPct val="100000"/>
              <a:buChar char="•"/>
            </a:pPr>
            <a:r>
              <a:rPr lang="en-US" sz="1600" dirty="0">
                <a:solidFill>
                  <a:schemeClr val="tx1"/>
                </a:solidFill>
              </a:rPr>
              <a:t>Name of your solution and a one-line summary.</a:t>
            </a:r>
            <a:endParaRPr lang="en-US" sz="1800" dirty="0"/>
          </a:p>
          <a:p>
            <a:pPr marL="342900" indent="-342900">
              <a:spcAft>
                <a:spcPts val="600"/>
              </a:spcAft>
              <a:buSzPct val="100000"/>
              <a:buChar char="•"/>
            </a:pPr>
            <a:r>
              <a:rPr lang="en-US" sz="1600" dirty="0">
                <a:solidFill>
                  <a:schemeClr val="tx1"/>
                </a:solidFill>
              </a:rPr>
              <a:t>What it does and how it works, in simple steps.</a:t>
            </a:r>
            <a:endParaRPr lang="en-US" sz="1800" dirty="0"/>
          </a:p>
          <a:p>
            <a:pPr marL="342900" indent="-342900">
              <a:spcAft>
                <a:spcPts val="600"/>
              </a:spcAft>
              <a:buSzPct val="100000"/>
              <a:buChar char="•"/>
            </a:pPr>
            <a:r>
              <a:rPr lang="en-US" sz="1600" dirty="0">
                <a:solidFill>
                  <a:schemeClr val="tx1"/>
                </a:solidFill>
              </a:rPr>
              <a:t>Who will use it and how (farmer, consumer, etc.).</a:t>
            </a:r>
            <a:endParaRPr lang="en-US" sz="1800" dirty="0"/>
          </a:p>
          <a:p>
            <a:pPr marL="342900" indent="-342900">
              <a:spcAft>
                <a:spcPts val="600"/>
              </a:spcAft>
              <a:buSzPct val="100000"/>
              <a:buChar char="•"/>
            </a:pPr>
            <a:r>
              <a:rPr lang="en-US" sz="1600" dirty="0">
                <a:solidFill>
                  <a:schemeClr val="tx1"/>
                </a:solidFill>
              </a:rPr>
              <a:t>Key features of the solution.</a:t>
            </a:r>
            <a:endParaRPr lang="en-US" sz="1800" dirty="0"/>
          </a:p>
        </p:txBody>
      </p:sp>
      <p:sp>
        <p:nvSpPr>
          <p:cNvPr id="4" name="How it solves the problem"/>
          <p:cNvSpPr txBox="1"/>
          <p:nvPr/>
        </p:nvSpPr>
        <p:spPr>
          <a:xfrm>
            <a:off x="548640" y="3216275"/>
            <a:ext cx="6990080" cy="1494790"/>
          </a:xfrm>
          <a:prstGeom prst="roundRect">
            <a:avLst>
              <a:gd name="adj" fmla="val 3200"/>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How It Solves the Problem</a:t>
            </a:r>
            <a:endParaRPr lang="en-US" sz="1800" dirty="0"/>
          </a:p>
          <a:p>
            <a:pPr marL="342900" indent="-342900">
              <a:spcAft>
                <a:spcPts val="600"/>
              </a:spcAft>
              <a:buSzPct val="100000"/>
              <a:buChar char="•"/>
            </a:pPr>
            <a:r>
              <a:rPr lang="en-US" sz="1600" dirty="0">
                <a:solidFill>
                  <a:schemeClr val="tx1"/>
                </a:solidFill>
              </a:rPr>
              <a:t>Link each feature to the problem it addresses.</a:t>
            </a:r>
            <a:endParaRPr lang="en-US" sz="1800" dirty="0"/>
          </a:p>
          <a:p>
            <a:pPr marL="342900" indent="-342900">
              <a:spcAft>
                <a:spcPts val="600"/>
              </a:spcAft>
              <a:buSzPct val="100000"/>
              <a:buChar char="•"/>
            </a:pPr>
            <a:r>
              <a:rPr lang="en-US" sz="1600" dirty="0">
                <a:solidFill>
                  <a:schemeClr val="tx1"/>
                </a:solidFill>
              </a:rPr>
              <a:t>Expected result or outcome.</a:t>
            </a:r>
            <a:endParaRPr lang="en-US" sz="1800" dirty="0"/>
          </a:p>
        </p:txBody>
      </p:sp>
      <p:sp>
        <p:nvSpPr>
          <p:cNvPr id="5" name="Innovation and uniqueness"/>
          <p:cNvSpPr txBox="1"/>
          <p:nvPr/>
        </p:nvSpPr>
        <p:spPr>
          <a:xfrm>
            <a:off x="548640" y="4867910"/>
            <a:ext cx="6949440" cy="1330325"/>
          </a:xfrm>
          <a:prstGeom prst="roundRect">
            <a:avLst>
              <a:gd name="adj" fmla="val 3200"/>
            </a:avLst>
          </a:prstGeom>
          <a:solidFill>
            <a:schemeClr val="bg2"/>
          </a:solidFill>
          <a:ln>
            <a:solidFill>
              <a:schemeClr val="bg2"/>
            </a:solidFill>
          </a:ln>
        </p:spPr>
        <p:txBody>
          <a:bodyPr wrap="square" lIns="203200" tIns="152400" rIns="203200" bIns="127000" rtlCol="0" anchor="t"/>
          <a:lstStyle/>
          <a:p>
            <a:pPr marL="0" indent="0">
              <a:spcAft>
                <a:spcPts val="600"/>
              </a:spcAft>
              <a:buNone/>
            </a:pPr>
            <a:r>
              <a:rPr lang="en-US" sz="1800" b="1" dirty="0">
                <a:solidFill>
                  <a:schemeClr val="accent1"/>
                </a:solidFill>
              </a:rPr>
              <a:t>Innovation and Uniqueness</a:t>
            </a:r>
            <a:endParaRPr lang="en-US" sz="1800" dirty="0"/>
          </a:p>
          <a:p>
            <a:pPr marL="342900" indent="-342900">
              <a:spcAft>
                <a:spcPts val="600"/>
              </a:spcAft>
              <a:buSzPct val="100000"/>
              <a:buChar char="•"/>
            </a:pPr>
            <a:r>
              <a:rPr lang="en-US" sz="1600" dirty="0">
                <a:solidFill>
                  <a:schemeClr val="tx1"/>
                </a:solidFill>
              </a:rPr>
              <a:t>What makes your idea new or different.</a:t>
            </a:r>
            <a:endParaRPr lang="en-US" sz="1800" dirty="0"/>
          </a:p>
          <a:p>
            <a:pPr marL="342900" indent="-342900">
              <a:spcAft>
                <a:spcPts val="600"/>
              </a:spcAft>
              <a:buSzPct val="100000"/>
              <a:buChar char="•"/>
            </a:pPr>
            <a:r>
              <a:rPr lang="en-US" sz="1600" dirty="0">
                <a:solidFill>
                  <a:schemeClr val="tx1"/>
                </a:solidFill>
              </a:rPr>
              <a:t>Advantage over existing solutions.</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Technical Approach</a:t>
            </a:r>
            <a:endParaRPr lang="en-US" sz="3600" dirty="0"/>
          </a:p>
        </p:txBody>
      </p:sp>
      <p:sp>
        <p:nvSpPr>
          <p:cNvPr id="4" name="Tech stack heading"/>
          <p:cNvSpPr txBox="1"/>
          <p:nvPr/>
        </p:nvSpPr>
        <p:spPr>
          <a:xfrm>
            <a:off x="548640" y="1417320"/>
            <a:ext cx="5577840" cy="365760"/>
          </a:xfrm>
          <a:prstGeom prst="rect">
            <a:avLst/>
          </a:prstGeom>
          <a:noFill/>
        </p:spPr>
        <p:txBody>
          <a:bodyPr wrap="square" lIns="0" tIns="0" rIns="0" bIns="0" rtlCol="0" anchor="ctr"/>
          <a:lstStyle/>
          <a:p>
            <a:pPr marL="0" indent="0">
              <a:buNone/>
            </a:pPr>
            <a:r>
              <a:rPr lang="en-US" sz="2000" b="1" dirty="0">
                <a:solidFill>
                  <a:schemeClr val="tx2"/>
                </a:solidFill>
              </a:rPr>
              <a:t>Technology Stack</a:t>
            </a:r>
            <a:endParaRPr lang="en-US" sz="2000" dirty="0"/>
          </a:p>
        </p:txBody>
      </p:sp>
      <p:sp>
        <p:nvSpPr>
          <p:cNvPr id="5" name="Methodology heading"/>
          <p:cNvSpPr txBox="1"/>
          <p:nvPr/>
        </p:nvSpPr>
        <p:spPr>
          <a:xfrm>
            <a:off x="6400800" y="1417320"/>
            <a:ext cx="5239512" cy="365760"/>
          </a:xfrm>
          <a:prstGeom prst="rect">
            <a:avLst/>
          </a:prstGeom>
          <a:noFill/>
        </p:spPr>
        <p:txBody>
          <a:bodyPr wrap="square" lIns="0" tIns="0" rIns="0" bIns="0" rtlCol="0" anchor="ctr"/>
          <a:lstStyle/>
          <a:p>
            <a:pPr marL="0" indent="0">
              <a:buNone/>
            </a:pPr>
            <a:r>
              <a:rPr lang="en-US" sz="2000" b="1" dirty="0">
                <a:solidFill>
                  <a:schemeClr val="tx2"/>
                </a:solidFill>
              </a:rPr>
              <a:t>Methodology</a:t>
            </a:r>
            <a:endParaRPr lang="en-US" sz="2000" dirty="0"/>
          </a:p>
        </p:txBody>
      </p:sp>
      <p:pic>
        <p:nvPicPr>
          <p:cNvPr id="17" name="Image 3" descr="Cloud / Tools icon"/>
          <p:cNvPicPr>
            <a:picLocks noChangeAspect="1"/>
          </p:cNvPicPr>
          <p:nvPr/>
        </p:nvPicPr>
        <p:blipFill>
          <a:blip r:embed="rId1"/>
          <a:stretch>
            <a:fillRect/>
          </a:stretch>
        </p:blipFill>
        <p:spPr>
          <a:xfrm>
            <a:off x="570865" y="1804670"/>
            <a:ext cx="5239385" cy="4384675"/>
          </a:xfrm>
          <a:prstGeom prst="rect">
            <a:avLst/>
          </a:prstGeom>
          <a:ln w="28575" cmpd="sng">
            <a:solidFill>
              <a:schemeClr val="accent1">
                <a:shade val="50000"/>
              </a:schemeClr>
            </a:solidFill>
            <a:prstDash val="solid"/>
          </a:ln>
        </p:spPr>
      </p:pic>
      <p:sp>
        <p:nvSpPr>
          <p:cNvPr id="26"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
        <p:nvSpPr>
          <p:cNvPr id="29" name="Rectangle 28"/>
          <p:cNvSpPr/>
          <p:nvPr/>
        </p:nvSpPr>
        <p:spPr>
          <a:xfrm>
            <a:off x="6400800" y="1783715"/>
            <a:ext cx="5239385" cy="4405630"/>
          </a:xfrm>
          <a:prstGeom prst="rect">
            <a:avLst/>
          </a:prstGeom>
          <a:solidFill>
            <a:schemeClr val="bg1"/>
          </a:solidFill>
          <a:ln w="285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2011680" y="320040"/>
            <a:ext cx="7955280" cy="822960"/>
          </a:xfrm>
          <a:prstGeom prst="rect">
            <a:avLst/>
          </a:prstGeom>
          <a:noFill/>
        </p:spPr>
        <p:txBody>
          <a:bodyPr wrap="square" lIns="0" tIns="0" rIns="0" bIns="0" rtlCol="0" anchor="ctr"/>
          <a:lstStyle/>
          <a:p>
            <a:pPr marL="0" indent="0" algn="ctr">
              <a:buNone/>
            </a:pPr>
            <a:r>
              <a:rPr lang="en-US" sz="3600" b="1" dirty="0">
                <a:solidFill>
                  <a:schemeClr val="tx2"/>
                </a:solidFill>
              </a:rPr>
              <a:t>Impact and Benefits</a:t>
            </a:r>
            <a:endParaRPr lang="en-US" sz="3600" dirty="0"/>
          </a:p>
        </p:txBody>
      </p:sp>
      <p:sp>
        <p:nvSpPr>
          <p:cNvPr id="3" name="Social Impact card"/>
          <p:cNvSpPr txBox="1"/>
          <p:nvPr/>
        </p:nvSpPr>
        <p:spPr>
          <a:xfrm>
            <a:off x="548640" y="1463040"/>
            <a:ext cx="3575304" cy="3017520"/>
          </a:xfrm>
          <a:prstGeom prst="roundRect">
            <a:avLst>
              <a:gd name="adj" fmla="val 2424"/>
            </a:avLst>
          </a:prstGeom>
          <a:solidFill>
            <a:schemeClr val="bg2"/>
          </a:solidFill>
          <a:ln>
            <a:solidFill>
              <a:schemeClr val="bg2"/>
            </a:solidFill>
          </a:ln>
        </p:spPr>
        <p:txBody>
          <a:bodyPr wrap="square" lIns="203200" tIns="1143000" rIns="203200" bIns="101600" rtlCol="0" anchor="t"/>
          <a:lstStyle/>
          <a:p>
            <a:pPr marL="342900" indent="-342900">
              <a:spcAft>
                <a:spcPts val="600"/>
              </a:spcAft>
              <a:buSzPct val="100000"/>
              <a:buChar char="•"/>
            </a:pPr>
            <a:r>
              <a:rPr lang="en-US" sz="1600" dirty="0">
                <a:solidFill>
                  <a:schemeClr val="accent5"/>
                </a:solidFill>
              </a:rPr>
              <a:t>[Who benefits and how]</a:t>
            </a:r>
            <a:endParaRPr lang="en-US" sz="1600" dirty="0"/>
          </a:p>
          <a:p>
            <a:pPr marL="342900" indent="-342900">
              <a:spcAft>
                <a:spcPts val="600"/>
              </a:spcAft>
              <a:buSzPct val="100000"/>
              <a:buChar char="•"/>
            </a:pPr>
            <a:r>
              <a:rPr lang="en-US" sz="1600" dirty="0">
                <a:solidFill>
                  <a:schemeClr val="accent5"/>
                </a:solidFill>
              </a:rPr>
              <a:t>[Measurable outcome]</a:t>
            </a:r>
            <a:endParaRPr lang="en-US" sz="1600" dirty="0"/>
          </a:p>
        </p:txBody>
      </p:sp>
      <p:sp>
        <p:nvSpPr>
          <p:cNvPr id="4" name="Social Impact icon circle"/>
          <p:cNvSpPr/>
          <p:nvPr/>
        </p:nvSpPr>
        <p:spPr>
          <a:xfrm>
            <a:off x="777240" y="1691640"/>
            <a:ext cx="640080" cy="640080"/>
          </a:xfrm>
          <a:prstGeom prst="ellipse">
            <a:avLst/>
          </a:prstGeom>
          <a:solidFill>
            <a:schemeClr val="accent1"/>
          </a:solidFill>
          <a:ln w="12700">
            <a:solidFill>
              <a:schemeClr val="accent1"/>
            </a:solidFill>
            <a:prstDash val="solid"/>
          </a:ln>
        </p:spPr>
      </p:sp>
      <p:pic>
        <p:nvPicPr>
          <p:cNvPr id="5" name="Image 0" descr="Social Impact icon"/>
          <p:cNvPicPr>
            <a:picLocks noChangeAspect="1"/>
          </p:cNvPicPr>
          <p:nvPr/>
        </p:nvPicPr>
        <p:blipFill>
          <a:blip r:embed="rId1"/>
          <a:stretch>
            <a:fillRect/>
          </a:stretch>
        </p:blipFill>
        <p:spPr>
          <a:xfrm>
            <a:off x="941832" y="1856232"/>
            <a:ext cx="310896" cy="310896"/>
          </a:xfrm>
          <a:prstGeom prst="rect">
            <a:avLst/>
          </a:prstGeom>
        </p:spPr>
      </p:pic>
      <p:sp>
        <p:nvSpPr>
          <p:cNvPr id="6" name="Social Impact heading"/>
          <p:cNvSpPr txBox="1"/>
          <p:nvPr/>
        </p:nvSpPr>
        <p:spPr>
          <a:xfrm>
            <a:off x="1554480" y="1691640"/>
            <a:ext cx="2386584" cy="640080"/>
          </a:xfrm>
          <a:prstGeom prst="rect">
            <a:avLst/>
          </a:prstGeom>
          <a:noFill/>
        </p:spPr>
        <p:txBody>
          <a:bodyPr wrap="square" lIns="0" tIns="0" rIns="0" bIns="0" rtlCol="0" anchor="ctr"/>
          <a:lstStyle/>
          <a:p>
            <a:pPr marL="0" indent="0">
              <a:buNone/>
            </a:pPr>
            <a:r>
              <a:rPr lang="en-US" sz="2000" b="1" dirty="0">
                <a:solidFill>
                  <a:schemeClr val="tx2"/>
                </a:solidFill>
              </a:rPr>
              <a:t>Social Impact</a:t>
            </a:r>
            <a:endParaRPr lang="en-US" sz="2000" dirty="0"/>
          </a:p>
        </p:txBody>
      </p:sp>
      <p:sp>
        <p:nvSpPr>
          <p:cNvPr id="7" name="Economic Impact card"/>
          <p:cNvSpPr txBox="1"/>
          <p:nvPr/>
        </p:nvSpPr>
        <p:spPr>
          <a:xfrm>
            <a:off x="4306824" y="1463040"/>
            <a:ext cx="3575304" cy="3017520"/>
          </a:xfrm>
          <a:prstGeom prst="roundRect">
            <a:avLst>
              <a:gd name="adj" fmla="val 2424"/>
            </a:avLst>
          </a:prstGeom>
          <a:solidFill>
            <a:schemeClr val="bg2"/>
          </a:solidFill>
          <a:ln>
            <a:solidFill>
              <a:schemeClr val="bg2"/>
            </a:solidFill>
          </a:ln>
        </p:spPr>
        <p:txBody>
          <a:bodyPr wrap="square" lIns="203200" tIns="1143000" rIns="203200" bIns="101600" rtlCol="0" anchor="t"/>
          <a:lstStyle/>
          <a:p>
            <a:pPr marL="342900" indent="-342900">
              <a:spcAft>
                <a:spcPts val="600"/>
              </a:spcAft>
              <a:buSzPct val="100000"/>
              <a:buChar char="•"/>
            </a:pPr>
            <a:r>
              <a:rPr lang="en-US" sz="1600" dirty="0">
                <a:solidFill>
                  <a:schemeClr val="accent5"/>
                </a:solidFill>
              </a:rPr>
              <a:t>[Cost saving or income gain]</a:t>
            </a:r>
            <a:endParaRPr lang="en-US" sz="1600" dirty="0"/>
          </a:p>
          <a:p>
            <a:pPr marL="342900" indent="-342900">
              <a:spcAft>
                <a:spcPts val="600"/>
              </a:spcAft>
              <a:buSzPct val="100000"/>
              <a:buChar char="•"/>
            </a:pPr>
            <a:r>
              <a:rPr lang="en-US" sz="1600" dirty="0">
                <a:solidFill>
                  <a:schemeClr val="accent5"/>
                </a:solidFill>
              </a:rPr>
              <a:t>[Measurable outcome]</a:t>
            </a:r>
            <a:endParaRPr lang="en-US" sz="1600" dirty="0"/>
          </a:p>
        </p:txBody>
      </p:sp>
      <p:sp>
        <p:nvSpPr>
          <p:cNvPr id="8" name="Economic Impact icon circle"/>
          <p:cNvSpPr/>
          <p:nvPr/>
        </p:nvSpPr>
        <p:spPr>
          <a:xfrm>
            <a:off x="4535424" y="1691640"/>
            <a:ext cx="640080" cy="640080"/>
          </a:xfrm>
          <a:prstGeom prst="ellipse">
            <a:avLst/>
          </a:prstGeom>
          <a:solidFill>
            <a:schemeClr val="accent1"/>
          </a:solidFill>
          <a:ln w="12700">
            <a:solidFill>
              <a:schemeClr val="accent1"/>
            </a:solidFill>
            <a:prstDash val="solid"/>
          </a:ln>
        </p:spPr>
      </p:sp>
      <p:pic>
        <p:nvPicPr>
          <p:cNvPr id="9" name="Image 1" descr="Economic Impact icon"/>
          <p:cNvPicPr>
            <a:picLocks noChangeAspect="1"/>
          </p:cNvPicPr>
          <p:nvPr/>
        </p:nvPicPr>
        <p:blipFill>
          <a:blip r:embed="rId2"/>
          <a:stretch>
            <a:fillRect/>
          </a:stretch>
        </p:blipFill>
        <p:spPr>
          <a:xfrm>
            <a:off x="4700016" y="1856232"/>
            <a:ext cx="310896" cy="310896"/>
          </a:xfrm>
          <a:prstGeom prst="rect">
            <a:avLst/>
          </a:prstGeom>
        </p:spPr>
      </p:pic>
      <p:sp>
        <p:nvSpPr>
          <p:cNvPr id="10" name="Economic Impact heading"/>
          <p:cNvSpPr txBox="1"/>
          <p:nvPr/>
        </p:nvSpPr>
        <p:spPr>
          <a:xfrm>
            <a:off x="5312664" y="1691640"/>
            <a:ext cx="2386584" cy="640080"/>
          </a:xfrm>
          <a:prstGeom prst="rect">
            <a:avLst/>
          </a:prstGeom>
          <a:noFill/>
        </p:spPr>
        <p:txBody>
          <a:bodyPr wrap="square" lIns="0" tIns="0" rIns="0" bIns="0" rtlCol="0" anchor="ctr"/>
          <a:lstStyle/>
          <a:p>
            <a:pPr marL="0" indent="0">
              <a:buNone/>
            </a:pPr>
            <a:r>
              <a:rPr lang="en-US" sz="2000" b="1" dirty="0">
                <a:solidFill>
                  <a:schemeClr val="tx2"/>
                </a:solidFill>
              </a:rPr>
              <a:t>Economic Impact</a:t>
            </a:r>
            <a:endParaRPr lang="en-US" sz="2000" dirty="0"/>
          </a:p>
        </p:txBody>
      </p:sp>
      <p:sp>
        <p:nvSpPr>
          <p:cNvPr id="11" name="Environmental Impact card"/>
          <p:cNvSpPr txBox="1"/>
          <p:nvPr/>
        </p:nvSpPr>
        <p:spPr>
          <a:xfrm>
            <a:off x="8065008" y="1463040"/>
            <a:ext cx="3575304" cy="3017520"/>
          </a:xfrm>
          <a:prstGeom prst="roundRect">
            <a:avLst>
              <a:gd name="adj" fmla="val 2424"/>
            </a:avLst>
          </a:prstGeom>
          <a:solidFill>
            <a:schemeClr val="bg2"/>
          </a:solidFill>
          <a:ln>
            <a:solidFill>
              <a:schemeClr val="bg2"/>
            </a:solidFill>
          </a:ln>
        </p:spPr>
        <p:txBody>
          <a:bodyPr wrap="square" lIns="203200" tIns="1143000" rIns="203200" bIns="101600" rtlCol="0" anchor="t"/>
          <a:lstStyle/>
          <a:p>
            <a:pPr marL="342900" indent="-342900">
              <a:spcAft>
                <a:spcPts val="600"/>
              </a:spcAft>
              <a:buSzPct val="100000"/>
              <a:buChar char="•"/>
            </a:pPr>
            <a:r>
              <a:rPr lang="en-US" sz="1600" dirty="0">
                <a:solidFill>
                  <a:schemeClr val="accent5"/>
                </a:solidFill>
              </a:rPr>
              <a:t>[Resource or waste reduction]</a:t>
            </a:r>
            <a:endParaRPr lang="en-US" sz="1600" dirty="0"/>
          </a:p>
          <a:p>
            <a:pPr marL="342900" indent="-342900">
              <a:spcAft>
                <a:spcPts val="600"/>
              </a:spcAft>
              <a:buSzPct val="100000"/>
              <a:buChar char="•"/>
            </a:pPr>
            <a:r>
              <a:rPr lang="en-US" sz="1600" dirty="0">
                <a:solidFill>
                  <a:schemeClr val="accent5"/>
                </a:solidFill>
              </a:rPr>
              <a:t>[Measurable outcome]</a:t>
            </a:r>
            <a:endParaRPr lang="en-US" sz="1600" dirty="0"/>
          </a:p>
        </p:txBody>
      </p:sp>
      <p:sp>
        <p:nvSpPr>
          <p:cNvPr id="12" name="Environmental Impact icon circle"/>
          <p:cNvSpPr/>
          <p:nvPr/>
        </p:nvSpPr>
        <p:spPr>
          <a:xfrm>
            <a:off x="8293608" y="1691640"/>
            <a:ext cx="640080" cy="640080"/>
          </a:xfrm>
          <a:prstGeom prst="ellipse">
            <a:avLst/>
          </a:prstGeom>
          <a:solidFill>
            <a:schemeClr val="accent1"/>
          </a:solidFill>
          <a:ln w="12700">
            <a:solidFill>
              <a:schemeClr val="accent1"/>
            </a:solidFill>
            <a:prstDash val="solid"/>
          </a:ln>
        </p:spPr>
      </p:sp>
      <p:pic>
        <p:nvPicPr>
          <p:cNvPr id="13" name="Image 2" descr="Environmental Impact icon"/>
          <p:cNvPicPr>
            <a:picLocks noChangeAspect="1"/>
          </p:cNvPicPr>
          <p:nvPr/>
        </p:nvPicPr>
        <p:blipFill>
          <a:blip r:embed="rId3"/>
          <a:stretch>
            <a:fillRect/>
          </a:stretch>
        </p:blipFill>
        <p:spPr>
          <a:xfrm>
            <a:off x="8458200" y="1856232"/>
            <a:ext cx="310896" cy="310896"/>
          </a:xfrm>
          <a:prstGeom prst="rect">
            <a:avLst/>
          </a:prstGeom>
        </p:spPr>
      </p:pic>
      <p:sp>
        <p:nvSpPr>
          <p:cNvPr id="14" name="Environmental Impact heading"/>
          <p:cNvSpPr txBox="1"/>
          <p:nvPr/>
        </p:nvSpPr>
        <p:spPr>
          <a:xfrm>
            <a:off x="9070848" y="1691640"/>
            <a:ext cx="2386584" cy="640080"/>
          </a:xfrm>
          <a:prstGeom prst="rect">
            <a:avLst/>
          </a:prstGeom>
          <a:noFill/>
        </p:spPr>
        <p:txBody>
          <a:bodyPr wrap="square" lIns="0" tIns="0" rIns="0" bIns="0" rtlCol="0" anchor="ctr"/>
          <a:lstStyle/>
          <a:p>
            <a:pPr marL="0" indent="0">
              <a:buNone/>
            </a:pPr>
            <a:r>
              <a:rPr lang="en-US" sz="2000" b="1" dirty="0">
                <a:solidFill>
                  <a:schemeClr val="tx2"/>
                </a:solidFill>
              </a:rPr>
              <a:t>Environmental Impact</a:t>
            </a:r>
            <a:endParaRPr lang="en-US" sz="2000" dirty="0"/>
          </a:p>
        </p:txBody>
      </p:sp>
      <p:sp>
        <p:nvSpPr>
          <p:cNvPr id="15" name="Key benefits"/>
          <p:cNvSpPr txBox="1"/>
          <p:nvPr/>
        </p:nvSpPr>
        <p:spPr>
          <a:xfrm>
            <a:off x="548640" y="4663440"/>
            <a:ext cx="5458968" cy="1554480"/>
          </a:xfrm>
          <a:prstGeom prst="roundRect">
            <a:avLst>
              <a:gd name="adj" fmla="val 4706"/>
            </a:avLst>
          </a:prstGeom>
          <a:solidFill>
            <a:schemeClr val="bg2"/>
          </a:solidFill>
          <a:ln>
            <a:solidFill>
              <a:schemeClr val="bg2"/>
            </a:solidFill>
          </a:ln>
        </p:spPr>
        <p:txBody>
          <a:bodyPr wrap="square" lIns="203200" tIns="127000" rIns="203200" bIns="127000" rtlCol="0" anchor="t"/>
          <a:lstStyle/>
          <a:p>
            <a:pPr marL="0" indent="0">
              <a:spcAft>
                <a:spcPts val="600"/>
              </a:spcAft>
              <a:buNone/>
            </a:pPr>
            <a:r>
              <a:rPr lang="en-US" sz="1800" b="1" dirty="0">
                <a:solidFill>
                  <a:schemeClr val="accent1"/>
                </a:solidFill>
              </a:rPr>
              <a:t>Key Benefits and Advantages</a:t>
            </a:r>
            <a:endParaRPr lang="en-US" sz="1800" dirty="0"/>
          </a:p>
          <a:p>
            <a:pPr marL="342900" indent="-342900">
              <a:spcAft>
                <a:spcPts val="600"/>
              </a:spcAft>
              <a:buSzPct val="100000"/>
              <a:buChar char="•"/>
            </a:pPr>
            <a:r>
              <a:rPr lang="en-US" sz="1400" dirty="0">
                <a:solidFill>
                  <a:schemeClr val="tx1"/>
                </a:solidFill>
              </a:rPr>
              <a:t>[Main advantages over existing solutions]</a:t>
            </a:r>
            <a:endParaRPr lang="en-US" sz="1800" dirty="0"/>
          </a:p>
          <a:p>
            <a:pPr marL="342900" indent="-342900">
              <a:spcAft>
                <a:spcPts val="600"/>
              </a:spcAft>
              <a:buSzPct val="100000"/>
              <a:buChar char="•"/>
            </a:pPr>
            <a:r>
              <a:rPr lang="en-US" sz="1400" dirty="0">
                <a:solidFill>
                  <a:schemeClr val="tx1"/>
                </a:solidFill>
              </a:rPr>
              <a:t>[Who gains the most]</a:t>
            </a:r>
            <a:endParaRPr lang="en-US" sz="1800" dirty="0"/>
          </a:p>
        </p:txBody>
      </p:sp>
      <p:sp>
        <p:nvSpPr>
          <p:cNvPr id="16" name="Scalability"/>
          <p:cNvSpPr txBox="1"/>
          <p:nvPr/>
        </p:nvSpPr>
        <p:spPr>
          <a:xfrm>
            <a:off x="6181344" y="4663440"/>
            <a:ext cx="5458968" cy="1554480"/>
          </a:xfrm>
          <a:prstGeom prst="roundRect">
            <a:avLst>
              <a:gd name="adj" fmla="val 4706"/>
            </a:avLst>
          </a:prstGeom>
          <a:solidFill>
            <a:schemeClr val="bg2"/>
          </a:solidFill>
          <a:ln>
            <a:solidFill>
              <a:schemeClr val="bg2"/>
            </a:solidFill>
          </a:ln>
        </p:spPr>
        <p:txBody>
          <a:bodyPr wrap="square" lIns="203200" tIns="127000" rIns="203200" bIns="127000" rtlCol="0" anchor="t"/>
          <a:lstStyle/>
          <a:p>
            <a:pPr marL="0" indent="0">
              <a:spcAft>
                <a:spcPts val="600"/>
              </a:spcAft>
              <a:buNone/>
            </a:pPr>
            <a:r>
              <a:rPr lang="en-US" sz="1800" b="1" dirty="0">
                <a:solidFill>
                  <a:schemeClr val="accent1"/>
                </a:solidFill>
              </a:rPr>
              <a:t>Scalability and Future Scope</a:t>
            </a:r>
            <a:endParaRPr lang="en-US" sz="1800" dirty="0"/>
          </a:p>
          <a:p>
            <a:pPr marL="342900" indent="-342900">
              <a:spcAft>
                <a:spcPts val="600"/>
              </a:spcAft>
              <a:buSzPct val="100000"/>
              <a:buChar char="•"/>
            </a:pPr>
            <a:r>
              <a:rPr lang="en-US" sz="1400" dirty="0">
                <a:solidFill>
                  <a:schemeClr val="tx1"/>
                </a:solidFill>
              </a:rPr>
              <a:t>[How it can grow to more farms or regions]</a:t>
            </a:r>
            <a:endParaRPr lang="en-US" sz="1800" dirty="0"/>
          </a:p>
          <a:p>
            <a:pPr marL="342900" indent="-342900">
              <a:spcAft>
                <a:spcPts val="600"/>
              </a:spcAft>
              <a:buSzPct val="100000"/>
              <a:buChar char="•"/>
            </a:pPr>
            <a:r>
              <a:rPr lang="en-US" sz="1400" dirty="0">
                <a:solidFill>
                  <a:schemeClr val="tx1"/>
                </a:solidFill>
              </a:rPr>
              <a:t>[Next steps after the hackathon]</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2" hasCustomPrompt="1"/>
          </p:nvPr>
        </p:nvSpPr>
        <p:spPr>
          <a:xfrm>
            <a:off x="548640" y="1828800"/>
            <a:ext cx="11091672" cy="914400"/>
          </a:xfrm>
          <a:prstGeom prst="rect">
            <a:avLst/>
          </a:prstGeom>
          <a:noFill/>
        </p:spPr>
        <p:txBody>
          <a:bodyPr wrap="square" lIns="0" tIns="0" rIns="0" bIns="0" rtlCol="0" anchor="ctr"/>
          <a:lstStyle/>
          <a:p>
            <a:pPr marL="0" indent="0" algn="ctr">
              <a:buNone/>
            </a:pPr>
            <a:r>
              <a:rPr lang="en-US" sz="5400" b="1" dirty="0">
                <a:solidFill>
                  <a:schemeClr val="tx2"/>
                </a:solidFill>
              </a:rPr>
              <a:t>Thank You</a:t>
            </a:r>
            <a:endParaRPr lang="en-US" sz="5400" dirty="0"/>
          </a:p>
        </p:txBody>
      </p:sp>
      <p:sp>
        <p:nvSpPr>
          <p:cNvPr id="3" name="College name"/>
          <p:cNvSpPr txBox="1"/>
          <p:nvPr/>
        </p:nvSpPr>
        <p:spPr>
          <a:xfrm>
            <a:off x="548640" y="2788920"/>
            <a:ext cx="11091672" cy="411480"/>
          </a:xfrm>
          <a:prstGeom prst="rect">
            <a:avLst/>
          </a:prstGeom>
          <a:noFill/>
        </p:spPr>
        <p:txBody>
          <a:bodyPr wrap="square" lIns="0" tIns="0" rIns="0" bIns="0" rtlCol="0" anchor="ctr"/>
          <a:lstStyle/>
          <a:p>
            <a:pPr marL="0" indent="0" algn="ctr">
              <a:buNone/>
            </a:pPr>
            <a:r>
              <a:rPr lang="en-US" sz="2200" b="1" dirty="0">
                <a:solidFill>
                  <a:schemeClr val="tx1"/>
                </a:solidFill>
              </a:rPr>
              <a:t>G. Madegowda Institute of Technology (GMIT), Mandya</a:t>
            </a:r>
            <a:endParaRPr lang="en-US" sz="2200" dirty="0"/>
          </a:p>
        </p:txBody>
      </p:sp>
      <p:sp>
        <p:nvSpPr>
          <p:cNvPr id="4" name="Event line"/>
          <p:cNvSpPr txBox="1"/>
          <p:nvPr/>
        </p:nvSpPr>
        <p:spPr>
          <a:xfrm>
            <a:off x="548640" y="3246120"/>
            <a:ext cx="11091672" cy="365760"/>
          </a:xfrm>
          <a:prstGeom prst="rect">
            <a:avLst/>
          </a:prstGeom>
          <a:noFill/>
        </p:spPr>
        <p:txBody>
          <a:bodyPr wrap="square" lIns="0" tIns="0" rIns="0" bIns="0" rtlCol="0" anchor="ctr"/>
          <a:lstStyle/>
          <a:p>
            <a:pPr marL="0" indent="0" algn="ctr">
              <a:buNone/>
            </a:pPr>
            <a:r>
              <a:rPr lang="en-US" sz="1600" dirty="0">
                <a:solidFill>
                  <a:schemeClr val="accent1"/>
                </a:solidFill>
              </a:rPr>
              <a:t>LEAP Agritech Hackathon 2026  |  2-3 November 2026  |  Kuvempu Sabhangana, GMIT, Mandya</a:t>
            </a:r>
            <a:endParaRPr lang="en-US" sz="1600" dirty="0"/>
          </a:p>
        </p:txBody>
      </p:sp>
      <p:sp>
        <p:nvSpPr>
          <p:cNvPr id="5" name="Team contact"/>
          <p:cNvSpPr txBox="1"/>
          <p:nvPr/>
        </p:nvSpPr>
        <p:spPr>
          <a:xfrm>
            <a:off x="548640" y="3931920"/>
            <a:ext cx="5458968" cy="2286000"/>
          </a:xfrm>
          <a:prstGeom prst="roundRect">
            <a:avLst>
              <a:gd name="adj" fmla="val 3200"/>
            </a:avLst>
          </a:prstGeom>
          <a:solidFill>
            <a:schemeClr val="bg2"/>
          </a:solidFill>
          <a:ln>
            <a:solidFill>
              <a:schemeClr val="bg2"/>
            </a:solidFill>
          </a:ln>
        </p:spPr>
        <p:txBody>
          <a:bodyPr wrap="square" lIns="203200" tIns="127000" rIns="203200" bIns="127000" rtlCol="0" anchor="t"/>
          <a:lstStyle/>
          <a:p>
            <a:pPr marL="0" indent="0">
              <a:spcAft>
                <a:spcPts val="600"/>
              </a:spcAft>
              <a:buNone/>
            </a:pPr>
            <a:r>
              <a:rPr lang="en-US" sz="1800" b="1" dirty="0">
                <a:solidFill>
                  <a:schemeClr val="accent1"/>
                </a:solidFill>
              </a:rPr>
              <a:t>Team Contact</a:t>
            </a:r>
            <a:endParaRPr lang="en-US" sz="1800" dirty="0"/>
          </a:p>
          <a:p>
            <a:pPr marL="342900" indent="-342900">
              <a:spcAft>
                <a:spcPts val="600"/>
              </a:spcAft>
              <a:buSzPct val="100000"/>
              <a:buChar char="•"/>
            </a:pPr>
            <a:r>
              <a:rPr lang="en-US" sz="1600" dirty="0">
                <a:solidFill>
                  <a:schemeClr val="tx1"/>
                </a:solidFill>
              </a:rPr>
              <a:t>Team Name: [Enter team name]</a:t>
            </a:r>
            <a:endParaRPr lang="en-US" sz="1800" dirty="0"/>
          </a:p>
          <a:p>
            <a:pPr marL="342900" indent="-342900">
              <a:spcAft>
                <a:spcPts val="600"/>
              </a:spcAft>
              <a:buSzPct val="100000"/>
              <a:buChar char="•"/>
            </a:pPr>
            <a:r>
              <a:rPr lang="en-US" sz="1600" dirty="0">
                <a:solidFill>
                  <a:schemeClr val="tx1"/>
                </a:solidFill>
              </a:rPr>
              <a:t>Team Leader: [Name]</a:t>
            </a:r>
            <a:endParaRPr lang="en-US" sz="1800" dirty="0"/>
          </a:p>
          <a:p>
            <a:pPr marL="342900" indent="-342900">
              <a:spcAft>
                <a:spcPts val="600"/>
              </a:spcAft>
              <a:buSzPct val="100000"/>
              <a:buChar char="•"/>
            </a:pPr>
            <a:r>
              <a:rPr lang="en-US" sz="1600" dirty="0">
                <a:solidFill>
                  <a:schemeClr val="tx1"/>
                </a:solidFill>
              </a:rPr>
              <a:t>Phone: [Mobile number]</a:t>
            </a:r>
            <a:endParaRPr lang="en-US" sz="1800" dirty="0"/>
          </a:p>
          <a:p>
            <a:pPr marL="342900" indent="-342900">
              <a:spcAft>
                <a:spcPts val="600"/>
              </a:spcAft>
              <a:buSzPct val="100000"/>
              <a:buChar char="•"/>
            </a:pPr>
            <a:r>
              <a:rPr lang="en-US" sz="1600" dirty="0">
                <a:solidFill>
                  <a:schemeClr val="tx1"/>
                </a:solidFill>
              </a:rPr>
              <a:t>Email: [Email address]</a:t>
            </a:r>
            <a:endParaRPr lang="en-US" sz="1800" dirty="0"/>
          </a:p>
        </p:txBody>
      </p:sp>
      <p:sp>
        <p:nvSpPr>
          <p:cNvPr id="6" name="Hackathon contact"/>
          <p:cNvSpPr txBox="1"/>
          <p:nvPr/>
        </p:nvSpPr>
        <p:spPr>
          <a:xfrm>
            <a:off x="6181344" y="3931920"/>
            <a:ext cx="5458968" cy="2286000"/>
          </a:xfrm>
          <a:prstGeom prst="roundRect">
            <a:avLst>
              <a:gd name="adj" fmla="val 3200"/>
            </a:avLst>
          </a:prstGeom>
          <a:solidFill>
            <a:schemeClr val="bg2"/>
          </a:solidFill>
          <a:ln>
            <a:solidFill>
              <a:schemeClr val="bg2"/>
            </a:solidFill>
          </a:ln>
        </p:spPr>
        <p:txBody>
          <a:bodyPr wrap="square" lIns="203200" tIns="127000" rIns="203200" bIns="127000" rtlCol="0" anchor="t"/>
          <a:lstStyle/>
          <a:p>
            <a:pPr marL="0" indent="0">
              <a:spcAft>
                <a:spcPts val="600"/>
              </a:spcAft>
              <a:buNone/>
            </a:pPr>
            <a:r>
              <a:rPr lang="en-US" sz="1600" b="1" dirty="0">
                <a:solidFill>
                  <a:schemeClr val="accent1"/>
                </a:solidFill>
              </a:rPr>
              <a:t>Hackathon Helpdesk</a:t>
            </a:r>
            <a:endParaRPr lang="en-US" sz="1600" dirty="0"/>
          </a:p>
          <a:p>
            <a:pPr marL="342900" indent="-342900">
              <a:spcAft>
                <a:spcPts val="600"/>
              </a:spcAft>
              <a:buSzPct val="100000"/>
              <a:buChar char="•"/>
            </a:pPr>
            <a:r>
              <a:rPr lang="en-US" sz="1600" dirty="0">
                <a:sym typeface="+mn-ea"/>
              </a:rPr>
              <a:t>Sinchana H G: 80886 34023</a:t>
            </a:r>
            <a:endParaRPr lang="en-US" sz="1600" dirty="0">
              <a:solidFill>
                <a:schemeClr val="tx1"/>
              </a:solidFill>
            </a:endParaRPr>
          </a:p>
          <a:p>
            <a:pPr marL="342900" indent="-342900">
              <a:spcAft>
                <a:spcPts val="600"/>
              </a:spcAft>
              <a:buSzPct val="100000"/>
              <a:buChar char="•"/>
            </a:pPr>
            <a:r>
              <a:rPr lang="en-US" sz="1600" dirty="0">
                <a:sym typeface="+mn-ea"/>
              </a:rPr>
              <a:t>Varshashree Reddy K: 77607 42137</a:t>
            </a:r>
            <a:endParaRPr lang="en-US" sz="1600" dirty="0"/>
          </a:p>
          <a:p>
            <a:pPr marL="342900" indent="-342900">
              <a:spcAft>
                <a:spcPts val="600"/>
              </a:spcAft>
              <a:buSzPct val="100000"/>
              <a:buChar char="•"/>
            </a:pPr>
            <a:r>
              <a:rPr lang="en-IN" altLang="en-US" sz="1600" dirty="0"/>
              <a:t>Nithin Kumar M: 91485 91987</a:t>
            </a:r>
            <a:endParaRPr lang="en-US" sz="1600" dirty="0"/>
          </a:p>
          <a:p>
            <a:pPr marL="342900" indent="-342900">
              <a:spcAft>
                <a:spcPts val="600"/>
              </a:spcAft>
              <a:buSzPct val="100000"/>
              <a:buChar char="•"/>
            </a:pPr>
            <a:r>
              <a:rPr lang="en-IN" altLang="en-US" sz="1600" dirty="0"/>
              <a:t>Sudarshan DT:82967 18625</a:t>
            </a:r>
            <a:endParaRPr lang="en-IN" altLang="en-US" sz="1600" dirty="0"/>
          </a:p>
        </p:txBody>
      </p:sp>
      <p:sp>
        <p:nvSpPr>
          <p:cNvPr id="25" name="Slide Number Placeholder 0"/>
          <p:cNvSpPr>
            <a:spLocks noGrp="1"/>
          </p:cNvSpPr>
          <p:nvPr>
            <p:ph type="sldNum" sz="quarter" idx="4294967295"/>
          </p:nvPr>
        </p:nvSpPr>
        <p:spPr>
          <a:xfrm>
            <a:off x="10725912" y="6400800"/>
            <a:ext cx="914400" cy="274320"/>
          </a:xfrm>
          <a:prstGeom prst="rect">
            <a:avLst/>
          </a:prstGeom>
        </p:spPr>
        <p:txBody>
          <a:bodyPr/>
          <a:lstStyle>
            <a:lvl1pPr>
              <a:defRPr sz="1200">
                <a:solidFill>
                  <a:schemeClr val="accent5"/>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LEAP Agritech Light">
  <a:themeElements>
    <a:clrScheme name="LEAP Agritech Light">
      <a:dk1>
        <a:srgbClr val="1A2238"/>
      </a:dk1>
      <a:lt1>
        <a:srgbClr val="FFFFFF"/>
      </a:lt1>
      <a:dk2>
        <a:srgbClr val="0F2A5C"/>
      </a:dk2>
      <a:lt2>
        <a:srgbClr val="EEF3F0"/>
      </a:lt2>
      <a:accent1>
        <a:srgbClr val="1F7A3A"/>
      </a:accent1>
      <a:accent2>
        <a:srgbClr val="0F2A5C"/>
      </a:accent2>
      <a:accent3>
        <a:srgbClr val="7CC242"/>
      </a:accent3>
      <a:accent4>
        <a:srgbClr val="F2B01E"/>
      </a:accent4>
      <a:accent5>
        <a:srgbClr val="5B6472"/>
      </a:accent5>
      <a:accent6>
        <a:srgbClr val="2A9D8F"/>
      </a:accent6>
      <a:hlink>
        <a:srgbClr val="0F2A5C"/>
      </a:hlink>
      <a:folHlink>
        <a:srgbClr val="5B6472"/>
      </a:folHlink>
    </a:clrScheme>
    <a:fontScheme name="LEAP Agritech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AP Agritech Light">
  <a:themeElements>
    <a:clrScheme name="LEAP Agritech Light">
      <a:dk1>
        <a:srgbClr val="1A2238"/>
      </a:dk1>
      <a:lt1>
        <a:srgbClr val="FFFFFF"/>
      </a:lt1>
      <a:dk2>
        <a:srgbClr val="0F2A5C"/>
      </a:dk2>
      <a:lt2>
        <a:srgbClr val="EEF3F0"/>
      </a:lt2>
      <a:accent1>
        <a:srgbClr val="1F7A3A"/>
      </a:accent1>
      <a:accent2>
        <a:srgbClr val="0F2A5C"/>
      </a:accent2>
      <a:accent3>
        <a:srgbClr val="7CC242"/>
      </a:accent3>
      <a:accent4>
        <a:srgbClr val="F2B01E"/>
      </a:accent4>
      <a:accent5>
        <a:srgbClr val="5B6472"/>
      </a:accent5>
      <a:accent6>
        <a:srgbClr val="2A9D8F"/>
      </a:accent6>
      <a:hlink>
        <a:srgbClr val="0F2A5C"/>
      </a:hlink>
      <a:folHlink>
        <a:srgbClr val="5B6472"/>
      </a:folHlink>
    </a:clrScheme>
    <a:fontScheme name="LEAP Agritech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2323</Words>
  <Application>WPS Presentation</Application>
  <PresentationFormat>On-screen Show (16:9)</PresentationFormat>
  <Paragraphs>162</Paragraphs>
  <Slides>7</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Arial</vt:lpstr>
      <vt:lpstr>SimSun</vt:lpstr>
      <vt:lpstr>Wingdings</vt:lpstr>
      <vt:lpstr>Calibri</vt:lpstr>
      <vt:lpstr>Microsoft YaHei</vt:lpstr>
      <vt:lpstr>Arial Unicode MS</vt:lpstr>
      <vt:lpstr>LEAP Agritech Light</vt:lpstr>
      <vt:lpstr>LEAP AGRITECH HACKATHON 2026</vt:lpstr>
      <vt:lpstr>Problem Statement</vt:lpstr>
      <vt:lpstr>Existing Solutions</vt:lpstr>
      <vt:lpstr>Our Solution</vt:lpstr>
      <vt:lpstr>Technical Approach</vt:lpstr>
      <vt:lpstr>Impact and Benefits</vt:lpstr>
      <vt:lpstr>Thank You</vt:lpstr>
    </vt:vector>
  </TitlesOfParts>
  <Company>G. Madegowda Institute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LEAP Agritech Hackathon 2026 - Round 1 Presentation Template</dc:title>
  <dc:creator>GMIT, Mandya</dc:creator>
  <dc:subject>Round 1 - Idea Presentation template</dc:subject>
  <cp:lastModifiedBy>Nithin Kumar</cp:lastModifiedBy>
  <cp:revision>7</cp:revision>
  <dcterms:created xsi:type="dcterms:W3CDTF">2026-10-27T02:58:00Z</dcterms:created>
  <dcterms:modified xsi:type="dcterms:W3CDTF">2026-10-30T06:27:25Z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71952579B8994938BB136E802D88F972_12</vt:lpwstr>
  </property>
  <property fmtid="{D5CDD505-2E9C-101B-9397-08002B2CF9AE}" pid="3" name="KSOProductBuildVer">
    <vt:lpwstr>1033-12.1.0.28485</vt:lpwstr>
  </property>
</Properties>
</file>